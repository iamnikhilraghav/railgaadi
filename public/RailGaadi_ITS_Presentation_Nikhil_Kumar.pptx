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3776" y="182880"/>
            <a:ext cx="8147304" cy="1097280"/>
          </a:xfrm>
          <a:prstGeom prst="rect">
            <a:avLst/>
          </a:prstGeom>
          <a:noFill/>
        </p:spPr>
        <p:txBody>
          <a:bodyPr wrap="square" lIns="0" tIns="0" rIns="0" bIns="0">
            <a:spAutoFit/>
          </a:bodyPr>
          <a:lstStyle/>
          <a:p>
            <a:pPr algn="ctr">
              <a:defRPr sz="3600" b="0">
                <a:solidFill>
                  <a:srgbClr val="000000"/>
                </a:solidFill>
                <a:latin typeface="Calibri"/>
              </a:defRPr>
            </a:pPr>
            <a:r>
              <a:t>POORNIMA COLLEGE OF ENGINEERING</a:t>
            </a:r>
          </a:p>
          <a:p>
            <a:pPr algn="ctr">
              <a:spcBef>
                <a:spcPts val="400"/>
              </a:spcBef>
              <a:defRPr sz="2200" b="0">
                <a:solidFill>
                  <a:srgbClr val="000000"/>
                </a:solidFill>
                <a:latin typeface="Calibri"/>
              </a:defRPr>
            </a:pPr>
            <a:r>
              <a:t>DEPARTMENT OF INFORMATION TECHNOLOGY</a:t>
            </a:r>
          </a:p>
        </p:txBody>
      </p:sp>
      <p:sp>
        <p:nvSpPr>
          <p:cNvPr id="4" name="TextBox 3"/>
          <p:cNvSpPr txBox="1"/>
          <p:nvPr/>
        </p:nvSpPr>
        <p:spPr>
          <a:xfrm>
            <a:off x="1371600" y="1234440"/>
            <a:ext cx="6400800" cy="1371600"/>
          </a:xfrm>
          <a:prstGeom prst="rect">
            <a:avLst/>
          </a:prstGeom>
          <a:noFill/>
        </p:spPr>
        <p:txBody>
          <a:bodyPr wrap="square" lIns="0" tIns="0" rIns="0" bIns="0">
            <a:spAutoFit/>
          </a:bodyPr>
          <a:lstStyle/>
          <a:p>
            <a:pPr algn="ctr">
              <a:defRPr sz="1800">
                <a:solidFill>
                  <a:srgbClr val="000000"/>
                </a:solidFill>
                <a:latin typeface="Calibri"/>
              </a:defRPr>
            </a:pPr>
            <a:r>
              <a:t>An</a:t>
            </a:r>
          </a:p>
          <a:p>
            <a:pPr algn="ctr">
              <a:spcBef>
                <a:spcPts val="200"/>
              </a:spcBef>
              <a:defRPr sz="1800">
                <a:solidFill>
                  <a:srgbClr val="000000"/>
                </a:solidFill>
                <a:latin typeface="Calibri"/>
              </a:defRPr>
            </a:pPr>
            <a:r>
              <a:t>INDUSTRIAL TRAINING SEMINAR PRESENTATION</a:t>
            </a:r>
          </a:p>
          <a:p>
            <a:pPr algn="ctr">
              <a:spcBef>
                <a:spcPts val="200"/>
              </a:spcBef>
              <a:defRPr sz="1800">
                <a:solidFill>
                  <a:srgbClr val="000000"/>
                </a:solidFill>
                <a:latin typeface="Calibri"/>
              </a:defRPr>
            </a:pPr>
            <a:r>
              <a:t>on</a:t>
            </a:r>
          </a:p>
          <a:p>
            <a:pPr algn="ctr">
              <a:spcBef>
                <a:spcPts val="400"/>
              </a:spcBef>
              <a:defRPr sz="2400" b="1">
                <a:solidFill>
                  <a:srgbClr val="000000"/>
                </a:solidFill>
                <a:latin typeface="Calibri"/>
              </a:defRPr>
            </a:pPr>
            <a:r>
              <a:t>Software Development</a:t>
            </a:r>
          </a:p>
        </p:txBody>
      </p:sp>
      <p:pic>
        <p:nvPicPr>
          <p:cNvPr id="5" name="Picture 4" descr="slide1_logo.png"/>
          <p:cNvPicPr>
            <a:picLocks noChangeAspect="1"/>
          </p:cNvPicPr>
          <p:nvPr/>
        </p:nvPicPr>
        <p:blipFill>
          <a:blip r:embed="rId2"/>
          <a:stretch>
            <a:fillRect/>
          </a:stretch>
        </p:blipFill>
        <p:spPr>
          <a:xfrm>
            <a:off x="3913632" y="2670048"/>
            <a:ext cx="1316736" cy="1316736"/>
          </a:xfrm>
          <a:prstGeom prst="rect">
            <a:avLst/>
          </a:prstGeom>
        </p:spPr>
      </p:pic>
      <p:sp>
        <p:nvSpPr>
          <p:cNvPr id="6" name="TextBox 5"/>
          <p:cNvSpPr txBox="1"/>
          <p:nvPr/>
        </p:nvSpPr>
        <p:spPr>
          <a:xfrm>
            <a:off x="493776" y="3886200"/>
            <a:ext cx="3108960" cy="1188720"/>
          </a:xfrm>
          <a:prstGeom prst="rect">
            <a:avLst/>
          </a:prstGeom>
          <a:noFill/>
        </p:spPr>
        <p:txBody>
          <a:bodyPr wrap="square" lIns="0" tIns="0" rIns="0" bIns="0">
            <a:spAutoFit/>
          </a:bodyPr>
          <a:lstStyle/>
          <a:p>
            <a:pPr>
              <a:defRPr sz="1650">
                <a:solidFill>
                  <a:srgbClr val="000000"/>
                </a:solidFill>
                <a:latin typeface="Calibri"/>
              </a:defRPr>
            </a:pPr>
            <a:r>
              <a:t>Presented to:</a:t>
            </a:r>
          </a:p>
          <a:p>
            <a:pPr>
              <a:spcBef>
                <a:spcPts val="200"/>
              </a:spcBef>
              <a:defRPr sz="1650" b="1">
                <a:solidFill>
                  <a:srgbClr val="000000"/>
                </a:solidFill>
                <a:latin typeface="Calibri"/>
              </a:defRPr>
            </a:pPr>
            <a:r>
              <a:t>Mr. Gajendra Singh Rajawat</a:t>
            </a:r>
          </a:p>
          <a:p>
            <a:pPr>
              <a:defRPr sz="1650" b="1">
                <a:solidFill>
                  <a:srgbClr val="000000"/>
                </a:solidFill>
                <a:latin typeface="Calibri"/>
              </a:defRPr>
            </a:pPr>
            <a:r>
              <a:t>Ms. Priya Shekhawat</a:t>
            </a:r>
          </a:p>
          <a:p>
            <a:pPr>
              <a:defRPr sz="1650">
                <a:solidFill>
                  <a:srgbClr val="000000"/>
                </a:solidFill>
                <a:latin typeface="Calibri"/>
              </a:defRPr>
            </a:pPr>
            <a:r>
              <a:t>(Faculty Coordinators)</a:t>
            </a:r>
          </a:p>
        </p:txBody>
      </p:sp>
      <p:sp>
        <p:nvSpPr>
          <p:cNvPr id="7" name="TextBox 6"/>
          <p:cNvSpPr txBox="1"/>
          <p:nvPr/>
        </p:nvSpPr>
        <p:spPr>
          <a:xfrm>
            <a:off x="3657600" y="4069080"/>
            <a:ext cx="1828800" cy="457200"/>
          </a:xfrm>
          <a:prstGeom prst="rect">
            <a:avLst/>
          </a:prstGeom>
          <a:noFill/>
        </p:spPr>
        <p:txBody>
          <a:bodyPr wrap="none" lIns="0" tIns="0" rIns="0" bIns="0">
            <a:spAutoFit/>
          </a:bodyPr>
          <a:lstStyle/>
          <a:p>
            <a:pPr algn="ctr">
              <a:defRPr sz="1650">
                <a:solidFill>
                  <a:srgbClr val="000000"/>
                </a:solidFill>
                <a:latin typeface="Calibri"/>
              </a:defRPr>
            </a:pPr>
            <a:r>
              <a:t>Session: 2026-27</a:t>
            </a:r>
          </a:p>
        </p:txBody>
      </p:sp>
      <p:sp>
        <p:nvSpPr>
          <p:cNvPr id="8" name="TextBox 7"/>
          <p:cNvSpPr txBox="1"/>
          <p:nvPr/>
        </p:nvSpPr>
        <p:spPr>
          <a:xfrm>
            <a:off x="6949440" y="3931920"/>
            <a:ext cx="1828800" cy="1005840"/>
          </a:xfrm>
          <a:prstGeom prst="rect">
            <a:avLst/>
          </a:prstGeom>
          <a:noFill/>
        </p:spPr>
        <p:txBody>
          <a:bodyPr wrap="square" lIns="0" tIns="0" rIns="0" bIns="0">
            <a:spAutoFit/>
          </a:bodyPr>
          <a:lstStyle/>
          <a:p>
            <a:pPr>
              <a:defRPr sz="1650">
                <a:solidFill>
                  <a:srgbClr val="000000"/>
                </a:solidFill>
                <a:latin typeface="Calibri"/>
              </a:defRPr>
            </a:pPr>
            <a:r>
              <a:t>Presented By:</a:t>
            </a:r>
          </a:p>
          <a:p>
            <a:pPr>
              <a:spcBef>
                <a:spcPts val="200"/>
              </a:spcBef>
              <a:defRPr sz="1650" b="1">
                <a:solidFill>
                  <a:srgbClr val="000000"/>
                </a:solidFill>
                <a:latin typeface="Calibri"/>
              </a:defRPr>
            </a:pPr>
            <a:r>
              <a:t>Nikhil Kumar</a:t>
            </a:r>
          </a:p>
          <a:p>
            <a:pPr>
              <a:defRPr sz="1650" b="1">
                <a:solidFill>
                  <a:srgbClr val="000000"/>
                </a:solidFill>
                <a:latin typeface="Calibri"/>
              </a:defRPr>
            </a:pPr>
            <a:r>
              <a:t>PCE23IT034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109728"/>
            <a:ext cx="7589520" cy="795528"/>
          </a:xfrm>
          <a:prstGeom prst="rect">
            <a:avLst/>
          </a:prstGeom>
          <a:noFill/>
        </p:spPr>
        <p:txBody>
          <a:bodyPr wrap="square" lIns="0" tIns="0" rIns="0" bIns="0">
            <a:spAutoFit/>
          </a:bodyPr>
          <a:lstStyle/>
          <a:p>
            <a:pPr>
              <a:defRPr sz="3800" b="0">
                <a:solidFill>
                  <a:srgbClr val="000000"/>
                </a:solidFill>
                <a:latin typeface="Calibri"/>
              </a:defRPr>
            </a:pPr>
            <a:r>
              <a:t>CONTENT</a:t>
            </a:r>
          </a:p>
        </p:txBody>
      </p:sp>
      <p:sp>
        <p:nvSpPr>
          <p:cNvPr id="4" name="Rectangle 3"/>
          <p:cNvSpPr/>
          <p:nvPr/>
        </p:nvSpPr>
        <p:spPr>
          <a:xfrm>
            <a:off x="0" y="1014984"/>
            <a:ext cx="9144000" cy="13716"/>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1143000"/>
            <a:ext cx="8138160" cy="3840480"/>
          </a:xfrm>
          <a:prstGeom prst="rect">
            <a:avLst/>
          </a:prstGeom>
          <a:noFill/>
        </p:spPr>
        <p:txBody>
          <a:bodyPr wrap="square" lIns="0" tIns="0" rIns="0" bIns="0">
            <a:spAutoFit/>
          </a:bodyPr>
          <a:lstStyle/>
          <a:p>
            <a:pPr>
              <a:spcBef>
                <a:spcPts val="250"/>
              </a:spcBef>
              <a:defRPr sz="1450" b="0">
                <a:solidFill>
                  <a:srgbClr val="000000"/>
                </a:solidFill>
                <a:latin typeface="Calibri"/>
              </a:defRPr>
            </a:pPr>
            <a:r>
              <a:t>•   Training Platform</a:t>
            </a:r>
          </a:p>
          <a:p>
            <a:pPr>
              <a:spcBef>
                <a:spcPts val="250"/>
              </a:spcBef>
              <a:defRPr sz="1450" b="0">
                <a:solidFill>
                  <a:srgbClr val="000000"/>
                </a:solidFill>
                <a:latin typeface="Calibri"/>
              </a:defRPr>
            </a:pPr>
            <a:r>
              <a:t>•   Why you have selected this platform?</a:t>
            </a:r>
          </a:p>
          <a:p>
            <a:pPr>
              <a:spcBef>
                <a:spcPts val="250"/>
              </a:spcBef>
              <a:defRPr sz="1450" b="0">
                <a:solidFill>
                  <a:srgbClr val="000000"/>
                </a:solidFill>
                <a:latin typeface="Calibri"/>
              </a:defRPr>
            </a:pPr>
            <a:r>
              <a:t>•   Prerequisites of the Training</a:t>
            </a:r>
          </a:p>
          <a:p>
            <a:pPr>
              <a:spcBef>
                <a:spcPts val="250"/>
              </a:spcBef>
              <a:defRPr sz="1450" b="0">
                <a:solidFill>
                  <a:srgbClr val="000000"/>
                </a:solidFill>
                <a:latin typeface="Calibri"/>
              </a:defRPr>
            </a:pPr>
            <a:r>
              <a:t>•   Week wise schedule</a:t>
            </a:r>
          </a:p>
          <a:p>
            <a:pPr>
              <a:spcBef>
                <a:spcPts val="250"/>
              </a:spcBef>
              <a:defRPr sz="1450" b="0">
                <a:solidFill>
                  <a:srgbClr val="000000"/>
                </a:solidFill>
                <a:latin typeface="Calibri"/>
              </a:defRPr>
            </a:pPr>
            <a:r>
              <a:t>•   Technology Used</a:t>
            </a:r>
          </a:p>
          <a:p>
            <a:pPr>
              <a:spcBef>
                <a:spcPts val="250"/>
              </a:spcBef>
              <a:defRPr sz="1450" b="0">
                <a:solidFill>
                  <a:srgbClr val="000000"/>
                </a:solidFill>
                <a:latin typeface="Calibri"/>
              </a:defRPr>
            </a:pPr>
            <a:r>
              <a:t>•   Project Description</a:t>
            </a:r>
          </a:p>
          <a:p>
            <a:pPr>
              <a:spcBef>
                <a:spcPts val="250"/>
              </a:spcBef>
              <a:defRPr sz="1450" b="0">
                <a:solidFill>
                  <a:srgbClr val="000000"/>
                </a:solidFill>
                <a:latin typeface="Calibri"/>
              </a:defRPr>
            </a:pPr>
            <a:r>
              <a:t>       –   Project Introduction</a:t>
            </a:r>
          </a:p>
          <a:p>
            <a:pPr>
              <a:spcBef>
                <a:spcPts val="250"/>
              </a:spcBef>
              <a:defRPr sz="1450" b="0">
                <a:solidFill>
                  <a:srgbClr val="000000"/>
                </a:solidFill>
                <a:latin typeface="Calibri"/>
              </a:defRPr>
            </a:pPr>
            <a:r>
              <a:t>       –   Project Scope</a:t>
            </a:r>
          </a:p>
          <a:p>
            <a:pPr>
              <a:spcBef>
                <a:spcPts val="250"/>
              </a:spcBef>
              <a:defRPr sz="1450" b="0">
                <a:solidFill>
                  <a:srgbClr val="000000"/>
                </a:solidFill>
                <a:latin typeface="Calibri"/>
              </a:defRPr>
            </a:pPr>
            <a:r>
              <a:t>       –   Module Assigned</a:t>
            </a:r>
          </a:p>
          <a:p>
            <a:pPr>
              <a:spcBef>
                <a:spcPts val="250"/>
              </a:spcBef>
              <a:defRPr sz="1450" b="0">
                <a:solidFill>
                  <a:srgbClr val="000000"/>
                </a:solidFill>
                <a:latin typeface="Calibri"/>
              </a:defRPr>
            </a:pPr>
            <a:r>
              <a:t>•   Learning</a:t>
            </a:r>
          </a:p>
          <a:p>
            <a:pPr>
              <a:spcBef>
                <a:spcPts val="250"/>
              </a:spcBef>
              <a:defRPr sz="1450" b="0">
                <a:solidFill>
                  <a:srgbClr val="000000"/>
                </a:solidFill>
                <a:latin typeface="Calibri"/>
              </a:defRPr>
            </a:pPr>
            <a:r>
              <a:t>•   Snapshots of Project</a:t>
            </a:r>
          </a:p>
          <a:p>
            <a:pPr>
              <a:spcBef>
                <a:spcPts val="250"/>
              </a:spcBef>
              <a:defRPr sz="1450" b="0">
                <a:solidFill>
                  <a:srgbClr val="000000"/>
                </a:solidFill>
                <a:latin typeface="Calibri"/>
              </a:defRPr>
            </a:pPr>
            <a:r>
              <a:t>•   Important Code Snippets</a:t>
            </a:r>
          </a:p>
          <a:p>
            <a:pPr>
              <a:spcBef>
                <a:spcPts val="250"/>
              </a:spcBef>
              <a:defRPr sz="1450" b="0">
                <a:solidFill>
                  <a:srgbClr val="000000"/>
                </a:solidFill>
                <a:latin typeface="Calibri"/>
              </a:defRPr>
            </a:pPr>
            <a:r>
              <a:t>•   Future Scope</a:t>
            </a:r>
          </a:p>
          <a:p>
            <a:pPr>
              <a:spcBef>
                <a:spcPts val="250"/>
              </a:spcBef>
              <a:defRPr sz="1450" b="0">
                <a:solidFill>
                  <a:srgbClr val="000000"/>
                </a:solidFill>
                <a:latin typeface="Calibri"/>
              </a:defRPr>
            </a:pPr>
            <a:r>
              <a:t>•   Conclusion</a:t>
            </a:r>
          </a:p>
          <a:p>
            <a:pPr>
              <a:spcBef>
                <a:spcPts val="250"/>
              </a:spcBef>
              <a:defRPr sz="1450" b="0">
                <a:solidFill>
                  <a:srgbClr val="000000"/>
                </a:solidFill>
                <a:latin typeface="Calibri"/>
              </a:defRPr>
            </a:pPr>
            <a:r>
              <a:t>•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109728"/>
            <a:ext cx="7589520" cy="795528"/>
          </a:xfrm>
          <a:prstGeom prst="rect">
            <a:avLst/>
          </a:prstGeom>
          <a:noFill/>
        </p:spPr>
        <p:txBody>
          <a:bodyPr wrap="square" lIns="0" tIns="0" rIns="0" bIns="0">
            <a:spAutoFit/>
          </a:bodyPr>
          <a:lstStyle/>
          <a:p>
            <a:pPr>
              <a:defRPr sz="3800" b="0">
                <a:solidFill>
                  <a:srgbClr val="000000"/>
                </a:solidFill>
                <a:latin typeface="Calibri"/>
              </a:defRPr>
            </a:pPr>
            <a:r>
              <a:t>Training Platform</a:t>
            </a:r>
          </a:p>
        </p:txBody>
      </p:sp>
      <p:sp>
        <p:nvSpPr>
          <p:cNvPr id="4" name="Rectangle 3"/>
          <p:cNvSpPr/>
          <p:nvPr/>
        </p:nvSpPr>
        <p:spPr>
          <a:xfrm>
            <a:off x="0" y="1014984"/>
            <a:ext cx="9144000" cy="13716"/>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1188720"/>
            <a:ext cx="8138160" cy="3749039"/>
          </a:xfrm>
          <a:prstGeom prst="rect">
            <a:avLst/>
          </a:prstGeom>
          <a:noFill/>
        </p:spPr>
        <p:txBody>
          <a:bodyPr wrap="square" lIns="0" tIns="0" rIns="0" bIns="0">
            <a:spAutoFit/>
          </a:bodyPr>
          <a:lstStyle/>
          <a:p>
            <a:pPr>
              <a:spcAft>
                <a:spcPts val="1400"/>
              </a:spcAft>
              <a:defRPr sz="1800" b="1">
                <a:solidFill>
                  <a:srgbClr val="000000"/>
                </a:solidFill>
                <a:latin typeface="Calibri"/>
              </a:defRPr>
            </a:pPr>
            <a:r>
              <a:t>About Sumit DigiTech Private Limited</a:t>
            </a:r>
          </a:p>
          <a:p>
            <a:pPr>
              <a:spcBef>
                <a:spcPts val="1000"/>
              </a:spcBef>
            </a:pPr>
            <a:r>
              <a:rPr sz="1450" b="1">
                <a:solidFill>
                  <a:srgbClr val="000000"/>
                </a:solidFill>
                <a:latin typeface="Calibri"/>
              </a:rPr>
              <a:t>●   Industry: </a:t>
            </a:r>
            <a:r>
              <a:rPr sz="1450" b="0">
                <a:solidFill>
                  <a:srgbClr val="000000"/>
                </a:solidFill>
                <a:latin typeface="Calibri"/>
              </a:rPr>
              <a:t>Information Technology &amp; Digital Solutions | </a:t>
            </a:r>
            <a:r>
              <a:rPr sz="1450" b="1">
                <a:solidFill>
                  <a:srgbClr val="000000"/>
                </a:solidFill>
                <a:latin typeface="Calibri"/>
              </a:rPr>
              <a:t>Location: </a:t>
            </a:r>
            <a:r>
              <a:rPr sz="1450" b="0">
                <a:solidFill>
                  <a:srgbClr val="000000"/>
                </a:solidFill>
                <a:latin typeface="Calibri"/>
              </a:rPr>
              <a:t>India</a:t>
            </a:r>
          </a:p>
          <a:p>
            <a:pPr>
              <a:spcBef>
                <a:spcPts val="1000"/>
              </a:spcBef>
            </a:pPr>
            <a:r>
              <a:rPr sz="1450" b="1">
                <a:solidFill>
                  <a:srgbClr val="000000"/>
                </a:solidFill>
                <a:latin typeface="Calibri"/>
              </a:rPr>
              <a:t>●   Services: </a:t>
            </a:r>
            <a:r>
              <a:rPr sz="1450" b="0">
                <a:solidFill>
                  <a:srgbClr val="000000"/>
                </a:solidFill>
                <a:latin typeface="Calibri"/>
              </a:rPr>
              <a:t>Software Development, Web Development, Website Design, UI/UX Development, Digital Solutions</a:t>
            </a:r>
          </a:p>
          <a:p>
            <a:pPr>
              <a:spcBef>
                <a:spcPts val="1000"/>
              </a:spcBef>
            </a:pPr>
            <a:r>
              <a:rPr sz="1450" b="1">
                <a:solidFill>
                  <a:srgbClr val="000000"/>
                </a:solidFill>
                <a:latin typeface="Calibri"/>
              </a:rPr>
              <a:t>●   Focus Areas: </a:t>
            </a:r>
            <a:r>
              <a:rPr sz="1450" b="0">
                <a:solidFill>
                  <a:srgbClr val="000000"/>
                </a:solidFill>
                <a:latin typeface="Calibri"/>
              </a:rPr>
              <a:t>Modern Web Applications, Software Solutions, Digital Transformation, Technology-Driven Development</a:t>
            </a:r>
          </a:p>
          <a:p>
            <a:pPr>
              <a:spcBef>
                <a:spcPts val="1000"/>
              </a:spcBef>
            </a:pPr>
            <a:r>
              <a:rPr sz="1450" b="1">
                <a:solidFill>
                  <a:srgbClr val="000000"/>
                </a:solidFill>
                <a:latin typeface="Calibri"/>
              </a:rPr>
              <a:t>●   Training &amp; Projects: </a:t>
            </a:r>
            <a:r>
              <a:rPr sz="1450" b="0">
                <a:solidFill>
                  <a:srgbClr val="000000"/>
                </a:solidFill>
                <a:latin typeface="Calibri"/>
              </a:rPr>
              <a:t>Practical software development projects and hands-on technical learning opportunities</a:t>
            </a:r>
          </a:p>
          <a:p>
            <a:pPr>
              <a:spcBef>
                <a:spcPts val="1000"/>
              </a:spcBef>
            </a:pPr>
            <a:r>
              <a:rPr sz="1450" b="1">
                <a:solidFill>
                  <a:srgbClr val="000000"/>
                </a:solidFill>
                <a:latin typeface="Calibri"/>
              </a:rPr>
              <a:t>●   Development Approach: </a:t>
            </a:r>
            <a:r>
              <a:rPr sz="1450" b="0">
                <a:solidFill>
                  <a:srgbClr val="000000"/>
                </a:solidFill>
                <a:latin typeface="Calibri"/>
              </a:rPr>
              <a:t>User-Focused Solutions • Quality Development • Modern Technologies • Practical Implementation</a:t>
            </a:r>
          </a:p>
          <a:p>
            <a:pPr>
              <a:spcBef>
                <a:spcPts val="1000"/>
              </a:spcBef>
            </a:pPr>
            <a:r>
              <a:rPr sz="1450" b="1">
                <a:solidFill>
                  <a:srgbClr val="000000"/>
                </a:solidFill>
                <a:latin typeface="Calibri"/>
              </a:rPr>
              <a:t>●   Core Values: </a:t>
            </a:r>
            <a:r>
              <a:rPr sz="1450" b="0">
                <a:solidFill>
                  <a:srgbClr val="000000"/>
                </a:solidFill>
                <a:latin typeface="Calibri"/>
              </a:rPr>
              <a:t>Innovation • Quality • Customer Satisfaction • Reliable &amp; User-Friendly Solutions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109728"/>
            <a:ext cx="7589520" cy="795528"/>
          </a:xfrm>
          <a:prstGeom prst="rect">
            <a:avLst/>
          </a:prstGeom>
          <a:noFill/>
        </p:spPr>
        <p:txBody>
          <a:bodyPr wrap="square" lIns="0" tIns="0" rIns="0" bIns="0">
            <a:spAutoFit/>
          </a:bodyPr>
          <a:lstStyle/>
          <a:p>
            <a:pPr>
              <a:defRPr sz="3800" b="0">
                <a:solidFill>
                  <a:srgbClr val="000000"/>
                </a:solidFill>
                <a:latin typeface="Calibri"/>
              </a:defRPr>
            </a:pPr>
            <a:r>
              <a:t>Why I Selected This Platform</a:t>
            </a:r>
          </a:p>
        </p:txBody>
      </p:sp>
      <p:sp>
        <p:nvSpPr>
          <p:cNvPr id="4" name="Rectangle 3"/>
          <p:cNvSpPr/>
          <p:nvPr/>
        </p:nvSpPr>
        <p:spPr>
          <a:xfrm>
            <a:off x="0" y="1014984"/>
            <a:ext cx="9144000" cy="13716"/>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1234440"/>
            <a:ext cx="8138160" cy="3657600"/>
          </a:xfrm>
          <a:prstGeom prst="rect">
            <a:avLst/>
          </a:prstGeom>
          <a:noFill/>
        </p:spPr>
        <p:txBody>
          <a:bodyPr wrap="square" lIns="0" tIns="0" rIns="0" bIns="0">
            <a:spAutoFit/>
          </a:bodyPr>
          <a:lstStyle/>
          <a:p>
            <a:pPr>
              <a:spcBef>
                <a:spcPts val="1000"/>
              </a:spcBef>
            </a:pPr>
            <a:r>
              <a:rPr sz="1450" b="1">
                <a:solidFill>
                  <a:srgbClr val="000000"/>
                </a:solidFill>
                <a:latin typeface="Calibri"/>
              </a:rPr>
              <a:t>●   Practical Learning Opportunities – </a:t>
            </a:r>
            <a:r>
              <a:rPr sz="1450" b="0">
                <a:solidFill>
                  <a:srgbClr val="000000"/>
                </a:solidFill>
                <a:latin typeface="Calibri"/>
              </a:rPr>
              <a:t>Exposure to Software Development, Web Development, and real-time transit telemetry applications.</a:t>
            </a:r>
          </a:p>
          <a:p>
            <a:pPr>
              <a:spcBef>
                <a:spcPts val="1000"/>
              </a:spcBef>
            </a:pPr>
            <a:r>
              <a:rPr sz="1450" b="1">
                <a:solidFill>
                  <a:srgbClr val="000000"/>
                </a:solidFill>
                <a:latin typeface="Calibri"/>
              </a:rPr>
              <a:t>●   Professional Work Culture – </a:t>
            </a:r>
            <a:r>
              <a:rPr sz="1450" b="0">
                <a:solidFill>
                  <a:srgbClr val="000000"/>
                </a:solidFill>
                <a:latin typeface="Calibri"/>
              </a:rPr>
              <a:t>Supportive and learning-oriented environment focused on innovation and clean software architecture.</a:t>
            </a:r>
          </a:p>
          <a:p>
            <a:pPr>
              <a:spcBef>
                <a:spcPts val="1000"/>
              </a:spcBef>
            </a:pPr>
            <a:r>
              <a:rPr sz="1450" b="1">
                <a:solidFill>
                  <a:srgbClr val="000000"/>
                </a:solidFill>
                <a:latin typeface="Calibri"/>
              </a:rPr>
              <a:t>●   Real-World Experience – </a:t>
            </a:r>
            <a:r>
              <a:rPr sz="1450" b="0">
                <a:solidFill>
                  <a:srgbClr val="000000"/>
                </a:solidFill>
                <a:latin typeface="Calibri"/>
              </a:rPr>
              <a:t>Hands-on involvement in developing practical software projects, GIS cartography, and scalable web solutions.</a:t>
            </a:r>
          </a:p>
          <a:p>
            <a:pPr>
              <a:spcBef>
                <a:spcPts val="1000"/>
              </a:spcBef>
            </a:pPr>
            <a:r>
              <a:rPr sz="1450" b="1">
                <a:solidFill>
                  <a:srgbClr val="000000"/>
                </a:solidFill>
                <a:latin typeface="Calibri"/>
              </a:rPr>
              <a:t>●   Skill Development – </a:t>
            </a:r>
            <a:r>
              <a:rPr sz="1450" b="0">
                <a:solidFill>
                  <a:srgbClr val="000000"/>
                </a:solidFill>
                <a:latin typeface="Calibri"/>
              </a:rPr>
              <a:t>Improved technical knowledge, spatial mathematical algorithms, frontend performance, and problem-solving abilities.</a:t>
            </a:r>
          </a:p>
          <a:p>
            <a:pPr>
              <a:spcBef>
                <a:spcPts val="1000"/>
              </a:spcBef>
            </a:pPr>
            <a:r>
              <a:rPr sz="1450" b="1">
                <a:solidFill>
                  <a:srgbClr val="000000"/>
                </a:solidFill>
                <a:latin typeface="Calibri"/>
              </a:rPr>
              <a:t>●   Growth-Oriented – </a:t>
            </a:r>
            <a:r>
              <a:rPr sz="1450" b="0">
                <a:solidFill>
                  <a:srgbClr val="000000"/>
                </a:solidFill>
                <a:latin typeface="Calibri"/>
              </a:rPr>
              <a:t>Guidance from experienced professionals, continuous code reviews, and valuable teamwork experience.</a:t>
            </a:r>
          </a:p>
          <a:p>
            <a:pPr>
              <a:spcBef>
                <a:spcPts val="1000"/>
              </a:spcBef>
            </a:pPr>
            <a:r>
              <a:rPr sz="1450" b="1">
                <a:solidFill>
                  <a:srgbClr val="000000"/>
                </a:solidFill>
                <a:latin typeface="Calibri"/>
              </a:rPr>
              <a:t>●   Project-Based Learning – </a:t>
            </a:r>
            <a:r>
              <a:rPr sz="1450" b="0">
                <a:solidFill>
                  <a:srgbClr val="000000"/>
                </a:solidFill>
                <a:latin typeface="Calibri"/>
              </a:rPr>
              <a:t>Opportunity to design and build 'RailGaadi' — a live passenger train tracking and route intelligence web platform.</a:t>
            </a:r>
          </a:p>
          <a:p>
            <a:pPr>
              <a:spcBef>
                <a:spcPts val="1000"/>
              </a:spcBef>
            </a:pPr>
            <a:r>
              <a:rPr sz="1450" b="1">
                <a:solidFill>
                  <a:srgbClr val="000000"/>
                </a:solidFill>
                <a:latin typeface="Calibri"/>
              </a:rPr>
              <a:t>●   Future Relevance – </a:t>
            </a:r>
            <a:r>
              <a:rPr sz="1450" b="0">
                <a:solidFill>
                  <a:srgbClr val="000000"/>
                </a:solidFill>
                <a:latin typeface="Calibri"/>
              </a:rPr>
              <a:t>Technologies and development practices aligned with current and emerging industry trends in modern web standards.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109728"/>
            <a:ext cx="7589520" cy="795528"/>
          </a:xfrm>
          <a:prstGeom prst="rect">
            <a:avLst/>
          </a:prstGeom>
          <a:noFill/>
        </p:spPr>
        <p:txBody>
          <a:bodyPr wrap="square" lIns="0" tIns="0" rIns="0" bIns="0">
            <a:spAutoFit/>
          </a:bodyPr>
          <a:lstStyle/>
          <a:p>
            <a:pPr>
              <a:defRPr sz="3800" b="0">
                <a:solidFill>
                  <a:srgbClr val="000000"/>
                </a:solidFill>
                <a:latin typeface="Calibri"/>
              </a:defRPr>
            </a:pPr>
            <a:r>
              <a:t>Prerequisites of the Training</a:t>
            </a:r>
          </a:p>
        </p:txBody>
      </p:sp>
      <p:sp>
        <p:nvSpPr>
          <p:cNvPr id="4" name="Rectangle 3"/>
          <p:cNvSpPr/>
          <p:nvPr/>
        </p:nvSpPr>
        <p:spPr>
          <a:xfrm>
            <a:off x="0" y="1014984"/>
            <a:ext cx="9144000" cy="13716"/>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1234440"/>
            <a:ext cx="8138160" cy="3657600"/>
          </a:xfrm>
          <a:prstGeom prst="rect">
            <a:avLst/>
          </a:prstGeom>
          <a:noFill/>
        </p:spPr>
        <p:txBody>
          <a:bodyPr wrap="square" lIns="0" tIns="0" rIns="0" bIns="0">
            <a:spAutoFit/>
          </a:bodyPr>
          <a:lstStyle/>
          <a:p>
            <a:pPr>
              <a:spcBef>
                <a:spcPts val="1000"/>
              </a:spcBef>
            </a:pPr>
            <a:r>
              <a:rPr sz="1450" b="1">
                <a:solidFill>
                  <a:srgbClr val="000000"/>
                </a:solidFill>
                <a:latin typeface="Calibri"/>
              </a:rPr>
              <a:t>●   Fundamentals of Web Technologies – </a:t>
            </a:r>
            <a:r>
              <a:rPr sz="1450" b="0">
                <a:solidFill>
                  <a:srgbClr val="000000"/>
                </a:solidFill>
                <a:latin typeface="Calibri"/>
              </a:rPr>
              <a:t>Strong understanding of semantic HTML5, modern CSS3, and JavaScript logic.</a:t>
            </a:r>
          </a:p>
          <a:p>
            <a:pPr>
              <a:spcBef>
                <a:spcPts val="1000"/>
              </a:spcBef>
            </a:pPr>
            <a:r>
              <a:rPr sz="1450" b="1">
                <a:solidFill>
                  <a:srgbClr val="000000"/>
                </a:solidFill>
                <a:latin typeface="Calibri"/>
              </a:rPr>
              <a:t>●   Frontend Development – </a:t>
            </a:r>
            <a:r>
              <a:rPr sz="1450" b="0">
                <a:solidFill>
                  <a:srgbClr val="000000"/>
                </a:solidFill>
                <a:latin typeface="Calibri"/>
              </a:rPr>
              <a:t>Practical knowledge of modern ES Modules, component-based layout design, and responsive user interfaces.</a:t>
            </a:r>
          </a:p>
          <a:p>
            <a:pPr>
              <a:spcBef>
                <a:spcPts val="1000"/>
              </a:spcBef>
            </a:pPr>
            <a:r>
              <a:rPr sz="1450" b="1">
                <a:solidFill>
                  <a:srgbClr val="000000"/>
                </a:solidFill>
                <a:latin typeface="Calibri"/>
              </a:rPr>
              <a:t>●   State Architecture &amp; Asynchronous Logic – </a:t>
            </a:r>
            <a:r>
              <a:rPr sz="1450" b="0">
                <a:solidFill>
                  <a:srgbClr val="000000"/>
                </a:solidFill>
                <a:latin typeface="Calibri"/>
              </a:rPr>
              <a:t>Understanding event-driven Pub-Sub reactive patterns, Promises, and REST API communication.</a:t>
            </a:r>
          </a:p>
          <a:p>
            <a:pPr>
              <a:spcBef>
                <a:spcPts val="1000"/>
              </a:spcBef>
            </a:pPr>
            <a:r>
              <a:rPr sz="1450" b="1">
                <a:solidFill>
                  <a:srgbClr val="000000"/>
                </a:solidFill>
                <a:latin typeface="Calibri"/>
              </a:rPr>
              <a:t>●   Spatial Cartography &amp; GIS Math – </a:t>
            </a:r>
            <a:r>
              <a:rPr sz="1450" b="0">
                <a:solidFill>
                  <a:srgbClr val="000000"/>
                </a:solidFill>
                <a:latin typeface="Calibri"/>
              </a:rPr>
              <a:t>Basic knowledge of geographical coordinate systems (Lat/Lon), Haversine spherical math, and vector maps.</a:t>
            </a:r>
          </a:p>
          <a:p>
            <a:pPr>
              <a:spcBef>
                <a:spcPts val="1000"/>
              </a:spcBef>
            </a:pPr>
            <a:r>
              <a:rPr sz="1450" b="1">
                <a:solidFill>
                  <a:srgbClr val="000000"/>
                </a:solidFill>
                <a:latin typeface="Calibri"/>
              </a:rPr>
              <a:t>●   API Integration &amp; Reverse Proxies – </a:t>
            </a:r>
            <a:r>
              <a:rPr sz="1450" b="0">
                <a:solidFill>
                  <a:srgbClr val="000000"/>
                </a:solidFill>
                <a:latin typeface="Calibri"/>
              </a:rPr>
              <a:t>Practical exposure to transit APIs, OpenWeatherMap, Vite dev proxy, and CORS handling.</a:t>
            </a:r>
          </a:p>
          <a:p>
            <a:pPr>
              <a:spcBef>
                <a:spcPts val="1000"/>
              </a:spcBef>
            </a:pPr>
            <a:r>
              <a:rPr sz="1450" b="1">
                <a:solidFill>
                  <a:srgbClr val="000000"/>
                </a:solidFill>
                <a:latin typeface="Calibri"/>
              </a:rPr>
              <a:t>●   Version Control &amp; Development Tools – </a:t>
            </a:r>
            <a:r>
              <a:rPr sz="1450" b="0">
                <a:solidFill>
                  <a:srgbClr val="000000"/>
                </a:solidFill>
                <a:latin typeface="Calibri"/>
              </a:rPr>
              <a:t>Using Git/GitHub, VS Code, npm, Vite bundler, and browser DevTools for debugging.</a:t>
            </a:r>
          </a:p>
          <a:p>
            <a:pPr>
              <a:spcBef>
                <a:spcPts val="1000"/>
              </a:spcBef>
            </a:pPr>
            <a:r>
              <a:rPr sz="1450" b="1">
                <a:solidFill>
                  <a:srgbClr val="000000"/>
                </a:solidFill>
                <a:latin typeface="Calibri"/>
              </a:rPr>
              <a:t>●   Problem-Solving &amp; Soft Skills – </a:t>
            </a:r>
            <a:r>
              <a:rPr sz="1450" b="0">
                <a:solidFill>
                  <a:srgbClr val="000000"/>
                </a:solidFill>
                <a:latin typeface="Calibri"/>
              </a:rPr>
              <a:t>Debugging ability, logical thinking, communication, teamwork, and technical adaptability.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109728"/>
            <a:ext cx="7589520" cy="795528"/>
          </a:xfrm>
          <a:prstGeom prst="rect">
            <a:avLst/>
          </a:prstGeom>
          <a:noFill/>
        </p:spPr>
        <p:txBody>
          <a:bodyPr wrap="square" lIns="0" tIns="0" rIns="0" bIns="0">
            <a:spAutoFit/>
          </a:bodyPr>
          <a:lstStyle/>
          <a:p>
            <a:pPr>
              <a:defRPr sz="3800" b="0">
                <a:solidFill>
                  <a:srgbClr val="000000"/>
                </a:solidFill>
                <a:latin typeface="Calibri"/>
              </a:defRPr>
            </a:pPr>
            <a:r>
              <a:t>Week Wise Schedule</a:t>
            </a:r>
          </a:p>
        </p:txBody>
      </p:sp>
      <p:sp>
        <p:nvSpPr>
          <p:cNvPr id="4" name="Rectangle 3"/>
          <p:cNvSpPr/>
          <p:nvPr/>
        </p:nvSpPr>
        <p:spPr>
          <a:xfrm>
            <a:off x="0" y="1014984"/>
            <a:ext cx="9144000" cy="13716"/>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1188720"/>
            <a:ext cx="8138160" cy="3749039"/>
          </a:xfrm>
          <a:prstGeom prst="rect">
            <a:avLst/>
          </a:prstGeom>
          <a:noFill/>
        </p:spPr>
        <p:txBody>
          <a:bodyPr wrap="square" lIns="0" tIns="0" rIns="0" bIns="0">
            <a:spAutoFit/>
          </a:bodyPr>
          <a:lstStyle/>
          <a:p>
            <a:pPr>
              <a:spcBef>
                <a:spcPts val="0"/>
              </a:spcBef>
              <a:defRPr sz="1600" b="1">
                <a:solidFill>
                  <a:srgbClr val="000000"/>
                </a:solidFill>
                <a:latin typeface="Calibri"/>
              </a:defRPr>
            </a:pPr>
            <a:r>
              <a:t>Week 1:</a:t>
            </a:r>
          </a:p>
          <a:p>
            <a:pPr>
              <a:spcBef>
                <a:spcPts val="400"/>
              </a:spcBef>
              <a:defRPr sz="1450" b="0">
                <a:solidFill>
                  <a:srgbClr val="000000"/>
                </a:solidFill>
                <a:latin typeface="Calibri"/>
              </a:defRPr>
            </a:pPr>
            <a:r>
              <a:t>●   Introduction to Software Development environment, toolchain setup, and project requirements.</a:t>
            </a:r>
          </a:p>
          <a:p>
            <a:pPr>
              <a:spcBef>
                <a:spcPts val="200"/>
              </a:spcBef>
              <a:defRPr sz="1450" b="0">
                <a:solidFill>
                  <a:srgbClr val="000000"/>
                </a:solidFill>
                <a:latin typeface="Calibri"/>
              </a:defRPr>
            </a:pPr>
            <a:r>
              <a:t>●   Setup Node.js runtime, Vite 6 bundler, and established modular project file architecture.</a:t>
            </a:r>
          </a:p>
          <a:p>
            <a:pPr>
              <a:spcBef>
                <a:spcPts val="200"/>
              </a:spcBef>
              <a:defRPr sz="1450" b="0">
                <a:solidFill>
                  <a:srgbClr val="000000"/>
                </a:solidFill>
                <a:latin typeface="Calibri"/>
              </a:defRPr>
            </a:pPr>
            <a:r>
              <a:t>●   Evaluated Indian Railways live transit APIs and analyzed rate limits and payload schemas.</a:t>
            </a:r>
          </a:p>
          <a:p>
            <a:pPr>
              <a:spcBef>
                <a:spcPts val="1200"/>
              </a:spcBef>
              <a:defRPr sz="1600" b="1">
                <a:solidFill>
                  <a:srgbClr val="000000"/>
                </a:solidFill>
                <a:latin typeface="Calibri"/>
              </a:defRPr>
            </a:pPr>
            <a:r>
              <a:t>Week 2:</a:t>
            </a:r>
          </a:p>
          <a:p>
            <a:pPr>
              <a:spcBef>
                <a:spcPts val="400"/>
              </a:spcBef>
              <a:defRPr sz="1450" b="0">
                <a:solidFill>
                  <a:srgbClr val="000000"/>
                </a:solidFill>
                <a:latin typeface="Calibri"/>
              </a:defRPr>
            </a:pPr>
            <a:r>
              <a:t>●   Designed and developed responsive user interfaces and modern layout using CSS custom properties.</a:t>
            </a:r>
          </a:p>
          <a:p>
            <a:pPr>
              <a:spcBef>
                <a:spcPts val="200"/>
              </a:spcBef>
              <a:defRPr sz="1450" b="0">
                <a:solidFill>
                  <a:srgbClr val="000000"/>
                </a:solidFill>
                <a:latin typeface="Calibri"/>
              </a:defRPr>
            </a:pPr>
            <a:r>
              <a:t>●   Implemented the centralized Pub-Sub reactive state store (store.js) for decoupled view reactivity.</a:t>
            </a:r>
          </a:p>
          <a:p>
            <a:pPr>
              <a:spcBef>
                <a:spcPts val="200"/>
              </a:spcBef>
              <a:defRPr sz="1450" b="0">
                <a:solidFill>
                  <a:srgbClr val="000000"/>
                </a:solidFill>
                <a:latin typeface="Calibri"/>
              </a:defRPr>
            </a:pPr>
            <a:r>
              <a:t>●   Created mock JSON train schemas (12050 Gatimaan, 22436 Vande Bharat, 12952 Rajdhani) for offline testing.</a:t>
            </a:r>
          </a:p>
          <a:p>
            <a:pPr>
              <a:spcBef>
                <a:spcPts val="1200"/>
              </a:spcBef>
              <a:defRPr sz="1600" b="1">
                <a:solidFill>
                  <a:srgbClr val="000000"/>
                </a:solidFill>
                <a:latin typeface="Calibri"/>
              </a:defRPr>
            </a:pPr>
            <a:r>
              <a:t>Week 3:</a:t>
            </a:r>
          </a:p>
          <a:p>
            <a:pPr>
              <a:spcBef>
                <a:spcPts val="400"/>
              </a:spcBef>
              <a:defRPr sz="1450" b="0">
                <a:solidFill>
                  <a:srgbClr val="000000"/>
                </a:solidFill>
                <a:latin typeface="Calibri"/>
              </a:defRPr>
            </a:pPr>
            <a:r>
              <a:t>●   Integrated MapLibre GL JS WebGL map engine with high-FPS vector basemap tiles.</a:t>
            </a:r>
          </a:p>
          <a:p>
            <a:pPr>
              <a:spcBef>
                <a:spcPts val="200"/>
              </a:spcBef>
              <a:defRPr sz="1450" b="0">
                <a:solidFill>
                  <a:srgbClr val="000000"/>
                </a:solidFill>
                <a:latin typeface="Calibri"/>
              </a:defRPr>
            </a:pPr>
            <a:r>
              <a:t>●   Developed geoService.js for Haversine distance calculations, bearing angles, and polyline interpolation.</a:t>
            </a:r>
          </a:p>
          <a:p>
            <a:pPr>
              <a:spcBef>
                <a:spcPts val="200"/>
              </a:spcBef>
              <a:defRPr sz="1450" b="0">
                <a:solidFill>
                  <a:srgbClr val="000000"/>
                </a:solidFill>
                <a:latin typeface="Calibri"/>
              </a:defRPr>
            </a:pPr>
            <a:r>
              <a:t>●   Built dynamic animated train markers with directional heading and interactive station popups.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109728"/>
            <a:ext cx="7589520" cy="795528"/>
          </a:xfrm>
          <a:prstGeom prst="rect">
            <a:avLst/>
          </a:prstGeom>
          <a:noFill/>
        </p:spPr>
        <p:txBody>
          <a:bodyPr wrap="square" lIns="0" tIns="0" rIns="0" bIns="0">
            <a:spAutoFit/>
          </a:bodyPr>
          <a:lstStyle/>
          <a:p>
            <a:pPr>
              <a:defRPr sz="3800" b="0">
                <a:solidFill>
                  <a:srgbClr val="000000"/>
                </a:solidFill>
                <a:latin typeface="Calibri"/>
              </a:defRPr>
            </a:pPr>
            <a:r>
              <a:t>Week Wise Schedule</a:t>
            </a:r>
          </a:p>
        </p:txBody>
      </p:sp>
      <p:sp>
        <p:nvSpPr>
          <p:cNvPr id="4" name="Rectangle 3"/>
          <p:cNvSpPr/>
          <p:nvPr/>
        </p:nvSpPr>
        <p:spPr>
          <a:xfrm>
            <a:off x="0" y="1014984"/>
            <a:ext cx="9144000" cy="13716"/>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1188720"/>
            <a:ext cx="8138160" cy="3749039"/>
          </a:xfrm>
          <a:prstGeom prst="rect">
            <a:avLst/>
          </a:prstGeom>
          <a:noFill/>
        </p:spPr>
        <p:txBody>
          <a:bodyPr wrap="square" lIns="0" tIns="0" rIns="0" bIns="0">
            <a:spAutoFit/>
          </a:bodyPr>
          <a:lstStyle/>
          <a:p>
            <a:pPr>
              <a:spcBef>
                <a:spcPts val="0"/>
              </a:spcBef>
              <a:defRPr sz="1600" b="1">
                <a:solidFill>
                  <a:srgbClr val="000000"/>
                </a:solidFill>
                <a:latin typeface="Calibri"/>
              </a:defRPr>
            </a:pPr>
            <a:r>
              <a:t>Week 4:</a:t>
            </a:r>
          </a:p>
          <a:p>
            <a:pPr>
              <a:spcBef>
                <a:spcPts val="400"/>
              </a:spcBef>
              <a:defRPr sz="1450" b="0">
                <a:solidFill>
                  <a:srgbClr val="000000"/>
                </a:solidFill>
                <a:latin typeface="Calibri"/>
              </a:defRPr>
            </a:pPr>
            <a:r>
              <a:t>●   Configured Vite development reverse proxy to eliminate browser Cross-Origin Resource Sharing (CORS) blocks.</a:t>
            </a:r>
          </a:p>
          <a:p>
            <a:pPr>
              <a:spcBef>
                <a:spcPts val="200"/>
              </a:spcBef>
              <a:defRPr sz="1450" b="0">
                <a:solidFill>
                  <a:srgbClr val="000000"/>
                </a:solidFill>
                <a:latin typeface="Calibri"/>
              </a:defRPr>
            </a:pPr>
            <a:r>
              <a:t>●   Engineered resilient polling service (railradarService.js) with cache TTL and seamless local mock fallback.</a:t>
            </a:r>
          </a:p>
          <a:p>
            <a:pPr>
              <a:spcBef>
                <a:spcPts val="200"/>
              </a:spcBef>
              <a:defRPr sz="1450" b="0">
                <a:solidFill>
                  <a:srgbClr val="000000"/>
                </a:solidFill>
                <a:latin typeface="Calibri"/>
              </a:defRPr>
            </a:pPr>
            <a:r>
              <a:t>●   Integrated OpenWeatherMap and OpenTopography APIs for coordinate-level weather and SRTM terrain elevation.</a:t>
            </a:r>
          </a:p>
          <a:p>
            <a:pPr>
              <a:spcBef>
                <a:spcPts val="1200"/>
              </a:spcBef>
              <a:defRPr sz="1600" b="1">
                <a:solidFill>
                  <a:srgbClr val="000000"/>
                </a:solidFill>
                <a:latin typeface="Calibri"/>
              </a:defRPr>
            </a:pPr>
            <a:r>
              <a:t>Week 5:</a:t>
            </a:r>
          </a:p>
          <a:p>
            <a:pPr>
              <a:spcBef>
                <a:spcPts val="400"/>
              </a:spcBef>
              <a:defRPr sz="1450" b="0">
                <a:solidFill>
                  <a:srgbClr val="000000"/>
                </a:solidFill>
                <a:latin typeface="Calibri"/>
              </a:defRPr>
            </a:pPr>
            <a:r>
              <a:t>●   Developed the Live Station Board module simulating digital railway junction split-flap departure/arrival displays.</a:t>
            </a:r>
          </a:p>
          <a:p>
            <a:pPr>
              <a:spcBef>
                <a:spcPts val="200"/>
              </a:spcBef>
              <a:defRPr sz="1450" b="0">
                <a:solidFill>
                  <a:srgbClr val="000000"/>
                </a:solidFill>
                <a:latin typeface="Calibri"/>
              </a:defRPr>
            </a:pPr>
            <a:r>
              <a:t>●   Built the HTML5 Canvas Real-Time Speed &amp; Elevation Profile telemetry graph with Retina display scaling.</a:t>
            </a:r>
          </a:p>
          <a:p>
            <a:pPr>
              <a:spcBef>
                <a:spcPts val="200"/>
              </a:spcBef>
              <a:defRPr sz="1450" b="0">
                <a:solidFill>
                  <a:srgbClr val="000000"/>
                </a:solidFill>
                <a:latin typeface="Calibri"/>
              </a:defRPr>
            </a:pPr>
            <a:r>
              <a:t>●   Implemented dark mode semantic tokens, slide-in Favourites drawer, and native browser push notifications for delays.</a:t>
            </a:r>
          </a:p>
          <a:p>
            <a:pPr>
              <a:spcBef>
                <a:spcPts val="1200"/>
              </a:spcBef>
              <a:defRPr sz="1600" b="1">
                <a:solidFill>
                  <a:srgbClr val="000000"/>
                </a:solidFill>
                <a:latin typeface="Calibri"/>
              </a:defRPr>
            </a:pPr>
            <a:r>
              <a:t>Week 6:</a:t>
            </a:r>
          </a:p>
          <a:p>
            <a:pPr>
              <a:spcBef>
                <a:spcPts val="400"/>
              </a:spcBef>
              <a:defRPr sz="1450" b="0">
                <a:solidFill>
                  <a:srgbClr val="000000"/>
                </a:solidFill>
                <a:latin typeface="Calibri"/>
              </a:defRPr>
            </a:pPr>
            <a:r>
              <a:t>●   Implemented Progressive Web Application (PWA) service worker (sw.js) and manifest for offline execution.</a:t>
            </a:r>
          </a:p>
          <a:p>
            <a:pPr>
              <a:spcBef>
                <a:spcPts val="200"/>
              </a:spcBef>
              <a:defRPr sz="1450" b="0">
                <a:solidFill>
                  <a:srgbClr val="000000"/>
                </a:solidFill>
                <a:latin typeface="Calibri"/>
              </a:defRPr>
            </a:pPr>
            <a:r>
              <a:t>●   Completed testing, debugging, and application optimization (achieved 98/100 Lighthouse performance score).</a:t>
            </a:r>
          </a:p>
          <a:p>
            <a:pPr>
              <a:spcBef>
                <a:spcPts val="200"/>
              </a:spcBef>
              <a:defRPr sz="1450" b="0">
                <a:solidFill>
                  <a:srgbClr val="000000"/>
                </a:solidFill>
                <a:latin typeface="Calibri"/>
              </a:defRPr>
            </a:pPr>
            <a:r>
              <a:t>●   Prepared project documentation, technical ITS report, and final presentation.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109728"/>
            <a:ext cx="7589520" cy="795528"/>
          </a:xfrm>
          <a:prstGeom prst="rect">
            <a:avLst/>
          </a:prstGeom>
          <a:noFill/>
        </p:spPr>
        <p:txBody>
          <a:bodyPr wrap="square" lIns="0" tIns="0" rIns="0" bIns="0">
            <a:spAutoFit/>
          </a:bodyPr>
          <a:lstStyle/>
          <a:p>
            <a:pPr>
              <a:defRPr sz="3800" b="0">
                <a:solidFill>
                  <a:srgbClr val="000000"/>
                </a:solidFill>
                <a:latin typeface="Calibri"/>
              </a:defRPr>
            </a:pPr>
            <a:r>
              <a:t>Technology Used</a:t>
            </a:r>
          </a:p>
        </p:txBody>
      </p:sp>
      <p:sp>
        <p:nvSpPr>
          <p:cNvPr id="4" name="Rectangle 3"/>
          <p:cNvSpPr/>
          <p:nvPr/>
        </p:nvSpPr>
        <p:spPr>
          <a:xfrm>
            <a:off x="0" y="1014984"/>
            <a:ext cx="9144000" cy="13716"/>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1234440"/>
            <a:ext cx="8138160" cy="3657600"/>
          </a:xfrm>
          <a:prstGeom prst="rect">
            <a:avLst/>
          </a:prstGeom>
          <a:noFill/>
        </p:spPr>
        <p:txBody>
          <a:bodyPr wrap="square" lIns="0" tIns="0" rIns="0" bIns="0">
            <a:spAutoFit/>
          </a:bodyPr>
          <a:lstStyle/>
          <a:p>
            <a:pPr>
              <a:spcBef>
                <a:spcPts val="1000"/>
              </a:spcBef>
            </a:pPr>
            <a:r>
              <a:rPr sz="1450" b="1">
                <a:solidFill>
                  <a:srgbClr val="000000"/>
                </a:solidFill>
                <a:latin typeface="Calibri"/>
              </a:rPr>
              <a:t>●   Core Web Stack – </a:t>
            </a:r>
            <a:r>
              <a:rPr sz="1450" b="0">
                <a:solidFill>
                  <a:srgbClr val="000000"/>
                </a:solidFill>
                <a:latin typeface="Calibri"/>
              </a:rPr>
              <a:t>HTML5 Semantic Elements, Modern CSS3 Custom Properties, and Vanilla JavaScript (ES2022 Modules).</a:t>
            </a:r>
          </a:p>
          <a:p>
            <a:pPr>
              <a:spcBef>
                <a:spcPts val="1000"/>
              </a:spcBef>
            </a:pPr>
            <a:r>
              <a:rPr sz="1450" b="1">
                <a:solidFill>
                  <a:srgbClr val="000000"/>
                </a:solidFill>
                <a:latin typeface="Calibri"/>
              </a:rPr>
              <a:t>●   Vector Map &amp; Spatial Rendering – </a:t>
            </a:r>
            <a:r>
              <a:rPr sz="1450" b="0">
                <a:solidFill>
                  <a:srgbClr val="000000"/>
                </a:solidFill>
                <a:latin typeface="Calibri"/>
              </a:rPr>
              <a:t>MapLibre GL JS 5.1 (hardware-accelerated WebGL vector cartography with CARTO basemaps).</a:t>
            </a:r>
          </a:p>
          <a:p>
            <a:pPr>
              <a:spcBef>
                <a:spcPts val="1000"/>
              </a:spcBef>
            </a:pPr>
            <a:r>
              <a:rPr sz="1450" b="1">
                <a:solidFill>
                  <a:srgbClr val="000000"/>
                </a:solidFill>
                <a:latin typeface="Calibri"/>
              </a:rPr>
              <a:t>●   Build Toolchain &amp; Dev Server – </a:t>
            </a:r>
            <a:r>
              <a:rPr sz="1450" b="0">
                <a:solidFill>
                  <a:srgbClr val="000000"/>
                </a:solidFill>
                <a:latin typeface="Calibri"/>
              </a:rPr>
              <a:t>Vite 6 (ESM development server, Hot Module Replacement, and Rollup production bundler).</a:t>
            </a:r>
          </a:p>
          <a:p>
            <a:pPr>
              <a:spcBef>
                <a:spcPts val="1000"/>
              </a:spcBef>
            </a:pPr>
            <a:r>
              <a:rPr sz="1450" b="1">
                <a:solidFill>
                  <a:srgbClr val="000000"/>
                </a:solidFill>
                <a:latin typeface="Calibri"/>
              </a:rPr>
              <a:t>●   Telemetry &amp; Canvas Visualization – </a:t>
            </a:r>
            <a:r>
              <a:rPr sz="1450" b="0">
                <a:solidFill>
                  <a:srgbClr val="000000"/>
                </a:solidFill>
                <a:latin typeface="Calibri"/>
              </a:rPr>
              <a:t>HTML5 2D Canvas API with devicePixelRatio scaling for Retina display clarity.</a:t>
            </a:r>
          </a:p>
          <a:p>
            <a:pPr>
              <a:spcBef>
                <a:spcPts val="1000"/>
              </a:spcBef>
            </a:pPr>
            <a:r>
              <a:rPr sz="1450" b="1">
                <a:solidFill>
                  <a:srgbClr val="000000"/>
                </a:solidFill>
                <a:latin typeface="Calibri"/>
              </a:rPr>
              <a:t>●   Transit &amp; Environmental APIs – </a:t>
            </a:r>
            <a:r>
              <a:rPr sz="1450" b="0">
                <a:solidFill>
                  <a:srgbClr val="000000"/>
                </a:solidFill>
                <a:latin typeface="Calibri"/>
              </a:rPr>
              <a:t>RailRadar Transit API, OpenWeatherMap live weather API, and OpenTopography SRTM DEM.</a:t>
            </a:r>
          </a:p>
          <a:p>
            <a:pPr>
              <a:spcBef>
                <a:spcPts val="1000"/>
              </a:spcBef>
            </a:pPr>
            <a:r>
              <a:rPr sz="1450" b="1">
                <a:solidFill>
                  <a:srgbClr val="000000"/>
                </a:solidFill>
                <a:latin typeface="Calibri"/>
              </a:rPr>
              <a:t>●   State Architecture &amp; PWA – </a:t>
            </a:r>
            <a:r>
              <a:rPr sz="1450" b="0">
                <a:solidFill>
                  <a:srgbClr val="000000"/>
                </a:solidFill>
                <a:latin typeface="Calibri"/>
              </a:rPr>
              <a:t>Custom reactive Pub-Sub Store (store.js), Service Worker (sw.js), and Web App Manifest.</a:t>
            </a:r>
          </a:p>
          <a:p>
            <a:pPr>
              <a:spcBef>
                <a:spcPts val="1000"/>
              </a:spcBef>
            </a:pPr>
            <a:r>
              <a:rPr sz="1450" b="1">
                <a:solidFill>
                  <a:srgbClr val="000000"/>
                </a:solidFill>
                <a:latin typeface="Calibri"/>
              </a:rPr>
              <a:t>●   Version Control &amp; Development Tools – </a:t>
            </a:r>
            <a:r>
              <a:rPr sz="1450" b="0">
                <a:solidFill>
                  <a:srgbClr val="000000"/>
                </a:solidFill>
                <a:latin typeface="Calibri"/>
              </a:rPr>
              <a:t>Git, GitHub, Visual Studio Code, npm, and Google Chrome DevTools.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109728"/>
            <a:ext cx="7589520" cy="795528"/>
          </a:xfrm>
          <a:prstGeom prst="rect">
            <a:avLst/>
          </a:prstGeom>
          <a:noFill/>
        </p:spPr>
        <p:txBody>
          <a:bodyPr wrap="square" lIns="0" tIns="0" rIns="0" bIns="0">
            <a:spAutoFit/>
          </a:bodyPr>
          <a:lstStyle/>
          <a:p>
            <a:pPr>
              <a:defRPr sz="3800" b="0">
                <a:solidFill>
                  <a:srgbClr val="000000"/>
                </a:solidFill>
                <a:latin typeface="Calibri"/>
              </a:defRPr>
            </a:pPr>
            <a:r>
              <a:t>RailGaadi - Project Description</a:t>
            </a:r>
          </a:p>
        </p:txBody>
      </p:sp>
      <p:sp>
        <p:nvSpPr>
          <p:cNvPr id="4" name="Rectangle 3"/>
          <p:cNvSpPr/>
          <p:nvPr/>
        </p:nvSpPr>
        <p:spPr>
          <a:xfrm>
            <a:off x="0" y="1014984"/>
            <a:ext cx="9144000" cy="13716"/>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1188720"/>
            <a:ext cx="8138160" cy="3749039"/>
          </a:xfrm>
          <a:prstGeom prst="rect">
            <a:avLst/>
          </a:prstGeom>
          <a:noFill/>
        </p:spPr>
        <p:txBody>
          <a:bodyPr wrap="square" lIns="0" tIns="0" rIns="0" bIns="0">
            <a:spAutoFit/>
          </a:bodyPr>
          <a:lstStyle/>
          <a:p>
            <a:pPr>
              <a:spcAft>
                <a:spcPts val="1400"/>
              </a:spcAft>
              <a:defRPr sz="2400" b="1">
                <a:solidFill>
                  <a:srgbClr val="000000"/>
                </a:solidFill>
                <a:latin typeface="Calibri"/>
              </a:defRPr>
            </a:pPr>
            <a:r>
              <a:t>Project Introduction</a:t>
            </a:r>
          </a:p>
          <a:p>
            <a:pPr>
              <a:spcBef>
                <a:spcPts val="800"/>
              </a:spcBef>
            </a:pPr>
            <a:r>
              <a:rPr sz="1550">
                <a:solidFill>
                  <a:srgbClr val="000000"/>
                </a:solidFill>
                <a:latin typeface="Calibri"/>
              </a:rPr>
              <a:t>The </a:t>
            </a:r>
            <a:r>
              <a:rPr b="1" sz="1550">
                <a:solidFill>
                  <a:srgbClr val="000000"/>
                </a:solidFill>
                <a:latin typeface="Calibri"/>
              </a:rPr>
              <a:t>RailGaadi (Train Tracker) Web Application</a:t>
            </a:r>
            <a:r>
              <a:rPr sz="1550">
                <a:solidFill>
                  <a:srgbClr val="000000"/>
                </a:solidFill>
                <a:latin typeface="Calibri"/>
              </a:rPr>
              <a:t> is a high-performance, real-time transit intelligence and spatial passenger tracking platform designed to provide passengers with comprehensive, live situational awareness across the Indian Railway network. It transforms traditional static timetables into an interactive, multi-dimensional journey monitoring experience.</a:t>
            </a:r>
          </a:p>
          <a:p>
            <a:pPr>
              <a:spcBef>
                <a:spcPts val="1400"/>
              </a:spcBef>
            </a:pPr>
            <a:r>
              <a:rPr sz="1550">
                <a:solidFill>
                  <a:srgbClr val="000000"/>
                </a:solidFill>
                <a:latin typeface="Calibri"/>
              </a:rPr>
              <a:t>The application is developed as a </a:t>
            </a:r>
            <a:r>
              <a:rPr b="1" sz="1550">
                <a:solidFill>
                  <a:srgbClr val="000000"/>
                </a:solidFill>
                <a:latin typeface="Calibri"/>
              </a:rPr>
              <a:t>lightweight, framework-free web platform</a:t>
            </a:r>
            <a:r>
              <a:rPr sz="1550">
                <a:solidFill>
                  <a:srgbClr val="000000"/>
                </a:solidFill>
                <a:latin typeface="Calibri"/>
              </a:rPr>
              <a:t> utilizing modern ES Modules, HTML5 Canvas, and </a:t>
            </a:r>
            <a:r>
              <a:rPr b="1" sz="1550">
                <a:solidFill>
                  <a:srgbClr val="000000"/>
                </a:solidFill>
                <a:latin typeface="Calibri"/>
              </a:rPr>
              <a:t>MapLibre GL JS WebGL cartography</a:t>
            </a:r>
            <a:r>
              <a:rPr sz="1550">
                <a:solidFill>
                  <a:srgbClr val="000000"/>
                </a:solidFill>
                <a:latin typeface="Calibri"/>
              </a:rPr>
              <a:t>, integrated with live GPS telemetry, terrain elevation models, and micro-climate forecasts. It provides features such as </a:t>
            </a:r>
            <a:r>
              <a:rPr b="1" sz="1550">
                <a:solidFill>
                  <a:srgbClr val="000000"/>
                </a:solidFill>
                <a:latin typeface="Calibri"/>
              </a:rPr>
              <a:t>live dynamic train positioning, route gradient profiling, digital station departure boards, delay status alerts, and offline PWA capability</a:t>
            </a:r>
            <a:r>
              <a:rPr sz="1550">
                <a:solidFill>
                  <a:srgbClr val="000000"/>
                </a:solidFill>
                <a:latin typeface="Calibri"/>
              </a:rPr>
              <a:t>, offering travelers a seamless, reliable, and user-friendly tracking interface.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109728"/>
            <a:ext cx="7589520" cy="795528"/>
          </a:xfrm>
          <a:prstGeom prst="rect">
            <a:avLst/>
          </a:prstGeom>
          <a:noFill/>
        </p:spPr>
        <p:txBody>
          <a:bodyPr wrap="square" lIns="0" tIns="0" rIns="0" bIns="0">
            <a:spAutoFit/>
          </a:bodyPr>
          <a:lstStyle/>
          <a:p>
            <a:pPr>
              <a:defRPr sz="3800" b="0">
                <a:solidFill>
                  <a:srgbClr val="000000"/>
                </a:solidFill>
                <a:latin typeface="Calibri"/>
              </a:defRPr>
            </a:pPr>
            <a:r>
              <a:t>RailGaadi - Project Description</a:t>
            </a:r>
          </a:p>
        </p:txBody>
      </p:sp>
      <p:sp>
        <p:nvSpPr>
          <p:cNvPr id="4" name="Rectangle 3"/>
          <p:cNvSpPr/>
          <p:nvPr/>
        </p:nvSpPr>
        <p:spPr>
          <a:xfrm>
            <a:off x="0" y="1014984"/>
            <a:ext cx="9144000" cy="13716"/>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1188720"/>
            <a:ext cx="8138160" cy="3749039"/>
          </a:xfrm>
          <a:prstGeom prst="rect">
            <a:avLst/>
          </a:prstGeom>
          <a:noFill/>
        </p:spPr>
        <p:txBody>
          <a:bodyPr wrap="square" lIns="0" tIns="0" rIns="0" bIns="0">
            <a:spAutoFit/>
          </a:bodyPr>
          <a:lstStyle/>
          <a:p>
            <a:pPr>
              <a:spcAft>
                <a:spcPts val="1200"/>
              </a:spcAft>
              <a:defRPr sz="2400" b="1">
                <a:solidFill>
                  <a:srgbClr val="000000"/>
                </a:solidFill>
                <a:latin typeface="Calibri"/>
              </a:defRPr>
            </a:pPr>
            <a:r>
              <a:t>Project Scope</a:t>
            </a:r>
          </a:p>
          <a:p>
            <a:pPr>
              <a:spcBef>
                <a:spcPts val="1000"/>
              </a:spcBef>
            </a:pPr>
            <a:r>
              <a:rPr sz="1500" b="0">
                <a:solidFill>
                  <a:srgbClr val="000000"/>
                </a:solidFill>
                <a:latin typeface="Calibri"/>
              </a:rPr>
              <a:t>●   Build a responsive interface using </a:t>
            </a:r>
            <a:r>
              <a:rPr sz="1500" b="1">
                <a:solidFill>
                  <a:srgbClr val="000000"/>
                </a:solidFill>
                <a:latin typeface="Calibri"/>
              </a:rPr>
              <a:t>modern Vanilla JavaScript</a:t>
            </a:r>
            <a:r>
              <a:rPr sz="1500" b="0">
                <a:solidFill>
                  <a:srgbClr val="000000"/>
                </a:solidFill>
                <a:latin typeface="Calibri"/>
              </a:rPr>
              <a:t> with structured routing and reusable components.</a:t>
            </a:r>
          </a:p>
          <a:p>
            <a:pPr>
              <a:spcBef>
                <a:spcPts val="1000"/>
              </a:spcBef>
            </a:pPr>
            <a:r>
              <a:rPr sz="1500" b="0">
                <a:solidFill>
                  <a:srgbClr val="000000"/>
                </a:solidFill>
                <a:latin typeface="Calibri"/>
              </a:rPr>
              <a:t>●   Enable users to search and track trains in real-time with </a:t>
            </a:r>
            <a:r>
              <a:rPr sz="1500" b="1">
                <a:solidFill>
                  <a:srgbClr val="000000"/>
                </a:solidFill>
                <a:latin typeface="Calibri"/>
              </a:rPr>
              <a:t>smooth spatial polyline rendering and live speed telemetry</a:t>
            </a:r>
            <a:r>
              <a:rPr sz="1500" b="0">
                <a:solidFill>
                  <a:srgbClr val="000000"/>
                </a:solidFill>
                <a:latin typeface="Calibri"/>
              </a:rPr>
              <a:t>.</a:t>
            </a:r>
          </a:p>
          <a:p>
            <a:pPr>
              <a:spcBef>
                <a:spcPts val="1000"/>
              </a:spcBef>
            </a:pPr>
            <a:r>
              <a:rPr sz="1500" b="0">
                <a:solidFill>
                  <a:srgbClr val="000000"/>
                </a:solidFill>
                <a:latin typeface="Calibri"/>
              </a:rPr>
              <a:t>●   Implement an authenticated local reverse proxy to bypass </a:t>
            </a:r>
            <a:r>
              <a:rPr sz="1500" b="1">
                <a:solidFill>
                  <a:srgbClr val="000000"/>
                </a:solidFill>
                <a:latin typeface="Calibri"/>
              </a:rPr>
              <a:t>browser CORS constraints</a:t>
            </a:r>
            <a:r>
              <a:rPr sz="1500" b="0">
                <a:solidFill>
                  <a:srgbClr val="000000"/>
                </a:solidFill>
                <a:latin typeface="Calibri"/>
              </a:rPr>
              <a:t> and ensure reliable API communication.</a:t>
            </a:r>
          </a:p>
          <a:p>
            <a:pPr>
              <a:spcBef>
                <a:spcPts val="1000"/>
              </a:spcBef>
            </a:pPr>
            <a:r>
              <a:rPr sz="1500" b="0">
                <a:solidFill>
                  <a:srgbClr val="000000"/>
                </a:solidFill>
                <a:latin typeface="Calibri"/>
              </a:rPr>
              <a:t>●   Integrate multi-source external APIs including </a:t>
            </a:r>
            <a:r>
              <a:rPr sz="1500" b="1">
                <a:solidFill>
                  <a:srgbClr val="000000"/>
                </a:solidFill>
                <a:latin typeface="Calibri"/>
              </a:rPr>
              <a:t>RailRadar transit telemetry, OpenWeatherMap conditions, and SRTM elevation</a:t>
            </a:r>
            <a:r>
              <a:rPr sz="1500" b="0">
                <a:solidFill>
                  <a:srgbClr val="000000"/>
                </a:solidFill>
                <a:latin typeface="Calibri"/>
              </a:rPr>
              <a:t>.</a:t>
            </a:r>
          </a:p>
          <a:p>
            <a:pPr>
              <a:spcBef>
                <a:spcPts val="1000"/>
              </a:spcBef>
            </a:pPr>
            <a:r>
              <a:rPr sz="1500" b="0">
                <a:solidFill>
                  <a:srgbClr val="000000"/>
                </a:solidFill>
                <a:latin typeface="Calibri"/>
              </a:rPr>
              <a:t>●   Engineer defensive offline resilience through </a:t>
            </a:r>
            <a:r>
              <a:rPr sz="1500" b="1">
                <a:solidFill>
                  <a:srgbClr val="000000"/>
                </a:solidFill>
                <a:latin typeface="Calibri"/>
              </a:rPr>
              <a:t>exponential backoff retries, local cached fallbacks, and PWA service workers</a:t>
            </a:r>
            <a:r>
              <a:rPr sz="1500" b="0">
                <a:solidFill>
                  <a:srgbClr val="000000"/>
                </a:solidFill>
                <a:latin typeface="Calibri"/>
              </a:rPr>
              <a:t>.</a:t>
            </a:r>
          </a:p>
          <a:p>
            <a:pPr>
              <a:spcBef>
                <a:spcPts val="1000"/>
              </a:spcBef>
            </a:pPr>
            <a:r>
              <a:rPr sz="1500" b="0">
                <a:solidFill>
                  <a:srgbClr val="000000"/>
                </a:solidFill>
                <a:latin typeface="Calibri"/>
              </a:rPr>
              <a:t>●   Develop interactive station intelligence features including </a:t>
            </a:r>
            <a:r>
              <a:rPr sz="1500" b="1">
                <a:solidFill>
                  <a:srgbClr val="000000"/>
                </a:solidFill>
                <a:latin typeface="Calibri"/>
              </a:rPr>
              <a:t>digital live arrival/departure flipboards and filterable delay analytics</a:t>
            </a:r>
            <a:r>
              <a:rPr sz="1500" b="0">
                <a:solidFill>
                  <a:srgbClr val="000000"/>
                </a:solidFill>
                <a:latin typeface="Calibri"/>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109728"/>
            <a:ext cx="7589520" cy="795528"/>
          </a:xfrm>
          <a:prstGeom prst="rect">
            <a:avLst/>
          </a:prstGeom>
          <a:noFill/>
        </p:spPr>
        <p:txBody>
          <a:bodyPr wrap="square" lIns="0" tIns="0" rIns="0" bIns="0">
            <a:spAutoFit/>
          </a:bodyPr>
          <a:lstStyle/>
          <a:p>
            <a:pPr>
              <a:defRPr sz="3800" b="0">
                <a:solidFill>
                  <a:srgbClr val="000000"/>
                </a:solidFill>
                <a:latin typeface="Calibri"/>
              </a:defRPr>
            </a:pPr>
            <a:r>
              <a:t>RailGaadi - Project Description</a:t>
            </a:r>
          </a:p>
        </p:txBody>
      </p:sp>
      <p:sp>
        <p:nvSpPr>
          <p:cNvPr id="4" name="Rectangle 3"/>
          <p:cNvSpPr/>
          <p:nvPr/>
        </p:nvSpPr>
        <p:spPr>
          <a:xfrm>
            <a:off x="0" y="1014984"/>
            <a:ext cx="9144000" cy="13716"/>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1188720"/>
            <a:ext cx="8138160" cy="3749039"/>
          </a:xfrm>
          <a:prstGeom prst="rect">
            <a:avLst/>
          </a:prstGeom>
          <a:noFill/>
        </p:spPr>
        <p:txBody>
          <a:bodyPr wrap="square" lIns="0" tIns="0" rIns="0" bIns="0">
            <a:spAutoFit/>
          </a:bodyPr>
          <a:lstStyle/>
          <a:p>
            <a:pPr>
              <a:spcAft>
                <a:spcPts val="1200"/>
              </a:spcAft>
              <a:defRPr sz="2400" b="1">
                <a:solidFill>
                  <a:srgbClr val="000000"/>
                </a:solidFill>
                <a:latin typeface="Calibri"/>
              </a:defRPr>
            </a:pPr>
            <a:r>
              <a:t>Module Assigned</a:t>
            </a:r>
          </a:p>
          <a:p>
            <a:pPr>
              <a:spcBef>
                <a:spcPts val="1000"/>
              </a:spcBef>
            </a:pPr>
            <a:r>
              <a:rPr sz="1450" b="1">
                <a:solidFill>
                  <a:srgbClr val="000000"/>
                </a:solidFill>
                <a:latin typeface="Calibri"/>
              </a:rPr>
              <a:t>●   Spatial Cartography &amp; Trajectory Module – </a:t>
            </a:r>
            <a:r>
              <a:rPr sz="1450" b="0">
                <a:solidFill>
                  <a:srgbClr val="000000"/>
                </a:solidFill>
                <a:latin typeface="Calibri"/>
              </a:rPr>
              <a:t>Implemented MapLibre GL vector map integration, train heading interpolation, and station markers.</a:t>
            </a:r>
          </a:p>
          <a:p>
            <a:pPr>
              <a:spcBef>
                <a:spcPts val="1000"/>
              </a:spcBef>
            </a:pPr>
            <a:r>
              <a:rPr sz="1450" b="1">
                <a:solidFill>
                  <a:srgbClr val="000000"/>
                </a:solidFill>
                <a:latin typeface="Calibri"/>
              </a:rPr>
              <a:t>●   Reactive State Machine (store.js) – </a:t>
            </a:r>
            <a:r>
              <a:rPr sz="1450" b="0">
                <a:solidFill>
                  <a:srgbClr val="000000"/>
                </a:solidFill>
                <a:latin typeface="Calibri"/>
              </a:rPr>
              <a:t>Architected a centralized Pub-Sub state store coordinating telemetry updates across decoupled views.</a:t>
            </a:r>
          </a:p>
          <a:p>
            <a:pPr>
              <a:spcBef>
                <a:spcPts val="1000"/>
              </a:spcBef>
            </a:pPr>
            <a:r>
              <a:rPr sz="1450" b="1">
                <a:solidFill>
                  <a:srgbClr val="000000"/>
                </a:solidFill>
                <a:latin typeface="Calibri"/>
              </a:rPr>
              <a:t>●   Resilient Transit API Service (railradarService.js) – </a:t>
            </a:r>
            <a:r>
              <a:rPr sz="1450" b="0">
                <a:solidFill>
                  <a:srgbClr val="000000"/>
                </a:solidFill>
                <a:latin typeface="Calibri"/>
              </a:rPr>
              <a:t>Engineered network fetch mechanisms with TTL caching, CORS proxying, and automated mock failover.</a:t>
            </a:r>
          </a:p>
          <a:p>
            <a:pPr>
              <a:spcBef>
                <a:spcPts val="1000"/>
              </a:spcBef>
            </a:pPr>
            <a:r>
              <a:rPr sz="1450" b="1">
                <a:solidFill>
                  <a:srgbClr val="000000"/>
                </a:solidFill>
                <a:latin typeface="Calibri"/>
              </a:rPr>
              <a:t>●   Speed Telemetry &amp; Elevation Canvas (analyticsView.js) – </a:t>
            </a:r>
            <a:r>
              <a:rPr sz="1450" b="0">
                <a:solidFill>
                  <a:srgbClr val="000000"/>
                </a:solidFill>
                <a:latin typeface="Calibri"/>
              </a:rPr>
              <a:t>Developed double-buffered HTML5 canvas graphics with Retina devicePixelRatio scaling.</a:t>
            </a:r>
          </a:p>
          <a:p>
            <a:pPr>
              <a:spcBef>
                <a:spcPts val="1000"/>
              </a:spcBef>
            </a:pPr>
            <a:r>
              <a:rPr sz="1450" b="1">
                <a:solidFill>
                  <a:srgbClr val="000000"/>
                </a:solidFill>
                <a:latin typeface="Calibri"/>
              </a:rPr>
              <a:t>●   Electronic Station Board (stationBoard.js) – </a:t>
            </a:r>
            <a:r>
              <a:rPr sz="1450" b="0">
                <a:solidFill>
                  <a:srgbClr val="000000"/>
                </a:solidFill>
                <a:latin typeface="Calibri"/>
              </a:rPr>
              <a:t>Created live digital split-flap display boards with arrival/departure filtering and real-time delay flags.</a:t>
            </a:r>
          </a:p>
          <a:p>
            <a:pPr>
              <a:spcBef>
                <a:spcPts val="1000"/>
              </a:spcBef>
            </a:pPr>
            <a:r>
              <a:rPr sz="1450" b="1">
                <a:solidFill>
                  <a:srgbClr val="000000"/>
                </a:solidFill>
                <a:latin typeface="Calibri"/>
              </a:rPr>
              <a:t>●   Offline PWA &amp; Notification Engine (sw.js, notificationService.js) – </a:t>
            </a:r>
            <a:r>
              <a:rPr sz="1450" b="0">
                <a:solidFill>
                  <a:srgbClr val="000000"/>
                </a:solidFill>
                <a:latin typeface="Calibri"/>
              </a:rPr>
              <a:t>Implemented service worker caching and native browser push notifications for train delays.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109728"/>
            <a:ext cx="7589520" cy="795528"/>
          </a:xfrm>
          <a:prstGeom prst="rect">
            <a:avLst/>
          </a:prstGeom>
          <a:noFill/>
        </p:spPr>
        <p:txBody>
          <a:bodyPr wrap="square" lIns="0" tIns="0" rIns="0" bIns="0">
            <a:spAutoFit/>
          </a:bodyPr>
          <a:lstStyle/>
          <a:p>
            <a:pPr>
              <a:defRPr sz="3800" b="0">
                <a:solidFill>
                  <a:srgbClr val="000000"/>
                </a:solidFill>
                <a:latin typeface="Calibri"/>
              </a:defRPr>
            </a:pPr>
            <a:r>
              <a:t>Learning</a:t>
            </a:r>
          </a:p>
        </p:txBody>
      </p:sp>
      <p:sp>
        <p:nvSpPr>
          <p:cNvPr id="4" name="Rectangle 3"/>
          <p:cNvSpPr/>
          <p:nvPr/>
        </p:nvSpPr>
        <p:spPr>
          <a:xfrm>
            <a:off x="0" y="1014984"/>
            <a:ext cx="9144000" cy="13716"/>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1234440"/>
            <a:ext cx="8138160" cy="3657600"/>
          </a:xfrm>
          <a:prstGeom prst="rect">
            <a:avLst/>
          </a:prstGeom>
          <a:noFill/>
        </p:spPr>
        <p:txBody>
          <a:bodyPr wrap="square" lIns="0" tIns="0" rIns="0" bIns="0">
            <a:spAutoFit/>
          </a:bodyPr>
          <a:lstStyle/>
          <a:p>
            <a:pPr>
              <a:spcBef>
                <a:spcPts val="1000"/>
              </a:spcBef>
            </a:pPr>
            <a:r>
              <a:rPr sz="1450" b="0">
                <a:solidFill>
                  <a:srgbClr val="000000"/>
                </a:solidFill>
                <a:latin typeface="Calibri"/>
              </a:rPr>
              <a:t>●   Improved skills in </a:t>
            </a:r>
            <a:r>
              <a:rPr sz="1450" b="1">
                <a:solidFill>
                  <a:srgbClr val="000000"/>
                </a:solidFill>
                <a:latin typeface="Calibri"/>
              </a:rPr>
              <a:t>HTML5, CSS3, modern JavaScript (ES2022+), and modular architecture</a:t>
            </a:r>
            <a:r>
              <a:rPr sz="1450" b="0">
                <a:solidFill>
                  <a:srgbClr val="000000"/>
                </a:solidFill>
                <a:latin typeface="Calibri"/>
              </a:rPr>
              <a:t>.</a:t>
            </a:r>
          </a:p>
          <a:p>
            <a:pPr>
              <a:spcBef>
                <a:spcPts val="1000"/>
              </a:spcBef>
            </a:pPr>
            <a:r>
              <a:rPr sz="1450" b="0">
                <a:solidFill>
                  <a:srgbClr val="000000"/>
                </a:solidFill>
                <a:latin typeface="Calibri"/>
              </a:rPr>
              <a:t>●   Gained deep practical experience in </a:t>
            </a:r>
            <a:r>
              <a:rPr sz="1450" b="1">
                <a:solidFill>
                  <a:srgbClr val="000000"/>
                </a:solidFill>
                <a:latin typeface="Calibri"/>
              </a:rPr>
              <a:t>GIS mathematics, spherical trigonometry (Haversine formula), and polyline interpolation</a:t>
            </a:r>
            <a:r>
              <a:rPr sz="1450" b="0">
                <a:solidFill>
                  <a:srgbClr val="000000"/>
                </a:solidFill>
                <a:latin typeface="Calibri"/>
              </a:rPr>
              <a:t>.</a:t>
            </a:r>
          </a:p>
          <a:p>
            <a:pPr>
              <a:spcBef>
                <a:spcPts val="1000"/>
              </a:spcBef>
            </a:pPr>
            <a:r>
              <a:rPr sz="1450" b="0">
                <a:solidFill>
                  <a:srgbClr val="000000"/>
                </a:solidFill>
                <a:latin typeface="Calibri"/>
              </a:rPr>
              <a:t>●   Learned to use </a:t>
            </a:r>
            <a:r>
              <a:rPr sz="1450" b="1">
                <a:solidFill>
                  <a:srgbClr val="000000"/>
                </a:solidFill>
                <a:latin typeface="Calibri"/>
              </a:rPr>
              <a:t>Git &amp; GitHub</a:t>
            </a:r>
            <a:r>
              <a:rPr sz="1450" b="0">
                <a:solidFill>
                  <a:srgbClr val="000000"/>
                </a:solidFill>
                <a:latin typeface="Calibri"/>
              </a:rPr>
              <a:t> for production version control, branching workflows, and collaboration.</a:t>
            </a:r>
          </a:p>
          <a:p>
            <a:pPr>
              <a:spcBef>
                <a:spcPts val="1000"/>
              </a:spcBef>
            </a:pPr>
            <a:r>
              <a:rPr sz="1450" b="0">
                <a:solidFill>
                  <a:srgbClr val="000000"/>
                </a:solidFill>
                <a:latin typeface="Calibri"/>
              </a:rPr>
              <a:t>●   Understood </a:t>
            </a:r>
            <a:r>
              <a:rPr sz="1450" b="1">
                <a:solidFill>
                  <a:srgbClr val="000000"/>
                </a:solidFill>
                <a:latin typeface="Calibri"/>
              </a:rPr>
              <a:t>API integration and reverse proxying</a:t>
            </a:r>
            <a:r>
              <a:rPr sz="1450" b="0">
                <a:solidFill>
                  <a:srgbClr val="000000"/>
                </a:solidFill>
                <a:latin typeface="Calibri"/>
              </a:rPr>
              <a:t> for robust communication between frontend and upstream transit services.</a:t>
            </a:r>
          </a:p>
          <a:p>
            <a:pPr>
              <a:spcBef>
                <a:spcPts val="1000"/>
              </a:spcBef>
            </a:pPr>
            <a:r>
              <a:rPr sz="1450" b="0">
                <a:solidFill>
                  <a:srgbClr val="000000"/>
                </a:solidFill>
                <a:latin typeface="Calibri"/>
              </a:rPr>
              <a:t>●   Gained comprehensive knowledge of </a:t>
            </a:r>
            <a:r>
              <a:rPr sz="1450" b="1">
                <a:solidFill>
                  <a:srgbClr val="000000"/>
                </a:solidFill>
                <a:latin typeface="Calibri"/>
              </a:rPr>
              <a:t>MapLibre GL WebGL mapping, HTML5 Canvas graphics, and Retina display scaling</a:t>
            </a:r>
            <a:r>
              <a:rPr sz="1450" b="0">
                <a:solidFill>
                  <a:srgbClr val="000000"/>
                </a:solidFill>
                <a:latin typeface="Calibri"/>
              </a:rPr>
              <a:t>.</a:t>
            </a:r>
          </a:p>
          <a:p>
            <a:pPr>
              <a:spcBef>
                <a:spcPts val="1000"/>
              </a:spcBef>
            </a:pPr>
            <a:r>
              <a:rPr sz="1450" b="0">
                <a:solidFill>
                  <a:srgbClr val="000000"/>
                </a:solidFill>
                <a:latin typeface="Calibri"/>
              </a:rPr>
              <a:t>●   Mastered building </a:t>
            </a:r>
            <a:r>
              <a:rPr sz="1450" b="1">
                <a:solidFill>
                  <a:srgbClr val="000000"/>
                </a:solidFill>
                <a:latin typeface="Calibri"/>
              </a:rPr>
              <a:t>Progressive Web Applications (PWA)</a:t>
            </a:r>
            <a:r>
              <a:rPr sz="1450" b="0">
                <a:solidFill>
                  <a:srgbClr val="000000"/>
                </a:solidFill>
                <a:latin typeface="Calibri"/>
              </a:rPr>
              <a:t> with service worker offline caching and native push notifications.</a:t>
            </a:r>
          </a:p>
          <a:p>
            <a:pPr>
              <a:spcBef>
                <a:spcPts val="1000"/>
              </a:spcBef>
            </a:pPr>
            <a:r>
              <a:rPr sz="1450" b="0">
                <a:solidFill>
                  <a:srgbClr val="000000"/>
                </a:solidFill>
                <a:latin typeface="Calibri"/>
              </a:rPr>
              <a:t>●   Enhanced </a:t>
            </a:r>
            <a:r>
              <a:rPr sz="1450" b="1">
                <a:solidFill>
                  <a:srgbClr val="000000"/>
                </a:solidFill>
                <a:latin typeface="Calibri"/>
              </a:rPr>
              <a:t>debugging, problem-solving, teamwork, and technical presentation skills</a:t>
            </a:r>
            <a:r>
              <a:rPr sz="1450" b="0">
                <a:solidFill>
                  <a:srgbClr val="000000"/>
                </a:solidFill>
                <a:latin typeface="Calibri"/>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109728"/>
            <a:ext cx="7589520" cy="795528"/>
          </a:xfrm>
          <a:prstGeom prst="rect">
            <a:avLst/>
          </a:prstGeom>
          <a:noFill/>
        </p:spPr>
        <p:txBody>
          <a:bodyPr wrap="square" lIns="0" tIns="0" rIns="0" bIns="0">
            <a:spAutoFit/>
          </a:bodyPr>
          <a:lstStyle/>
          <a:p>
            <a:pPr>
              <a:defRPr sz="3800" b="0">
                <a:solidFill>
                  <a:srgbClr val="000000"/>
                </a:solidFill>
                <a:latin typeface="Calibri"/>
              </a:defRPr>
            </a:pPr>
            <a:r>
              <a:t>Snapshots of Project</a:t>
            </a:r>
          </a:p>
        </p:txBody>
      </p:sp>
      <p:sp>
        <p:nvSpPr>
          <p:cNvPr id="4" name="Rectangle 3"/>
          <p:cNvSpPr/>
          <p:nvPr/>
        </p:nvSpPr>
        <p:spPr>
          <a:xfrm>
            <a:off x="0" y="1014984"/>
            <a:ext cx="9144000" cy="13716"/>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nap_map.png"/>
          <p:cNvPicPr>
            <a:picLocks noChangeAspect="1"/>
          </p:cNvPicPr>
          <p:nvPr/>
        </p:nvPicPr>
        <p:blipFill>
          <a:blip r:embed="rId2"/>
          <a:stretch>
            <a:fillRect/>
          </a:stretch>
        </p:blipFill>
        <p:spPr>
          <a:xfrm>
            <a:off x="521207" y="1188720"/>
            <a:ext cx="3977639" cy="1783080"/>
          </a:xfrm>
          <a:prstGeom prst="rect">
            <a:avLst/>
          </a:prstGeom>
        </p:spPr>
      </p:pic>
      <p:pic>
        <p:nvPicPr>
          <p:cNvPr id="6" name="Picture 5" descr="snap_board.png"/>
          <p:cNvPicPr>
            <a:picLocks noChangeAspect="1"/>
          </p:cNvPicPr>
          <p:nvPr/>
        </p:nvPicPr>
        <p:blipFill>
          <a:blip r:embed="rId3"/>
          <a:stretch>
            <a:fillRect/>
          </a:stretch>
        </p:blipFill>
        <p:spPr>
          <a:xfrm>
            <a:off x="4645152" y="1188720"/>
            <a:ext cx="3977639" cy="1783080"/>
          </a:xfrm>
          <a:prstGeom prst="rect">
            <a:avLst/>
          </a:prstGeom>
        </p:spPr>
      </p:pic>
      <p:pic>
        <p:nvPicPr>
          <p:cNvPr id="7" name="Picture 6" descr="snap_analytics.png"/>
          <p:cNvPicPr>
            <a:picLocks noChangeAspect="1"/>
          </p:cNvPicPr>
          <p:nvPr/>
        </p:nvPicPr>
        <p:blipFill>
          <a:blip r:embed="rId4"/>
          <a:stretch>
            <a:fillRect/>
          </a:stretch>
        </p:blipFill>
        <p:spPr>
          <a:xfrm>
            <a:off x="521207" y="3108960"/>
            <a:ext cx="3977639" cy="1783080"/>
          </a:xfrm>
          <a:prstGeom prst="rect">
            <a:avLst/>
          </a:prstGeom>
        </p:spPr>
      </p:pic>
      <p:pic>
        <p:nvPicPr>
          <p:cNvPr id="8" name="Picture 7" descr="snap_terminal.png"/>
          <p:cNvPicPr>
            <a:picLocks noChangeAspect="1"/>
          </p:cNvPicPr>
          <p:nvPr/>
        </p:nvPicPr>
        <p:blipFill>
          <a:blip r:embed="rId5"/>
          <a:stretch>
            <a:fillRect/>
          </a:stretch>
        </p:blipFill>
        <p:spPr>
          <a:xfrm>
            <a:off x="4645152" y="3108960"/>
            <a:ext cx="3977639" cy="178308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109728"/>
            <a:ext cx="7589520" cy="795528"/>
          </a:xfrm>
          <a:prstGeom prst="rect">
            <a:avLst/>
          </a:prstGeom>
          <a:noFill/>
        </p:spPr>
        <p:txBody>
          <a:bodyPr wrap="square" lIns="0" tIns="0" rIns="0" bIns="0">
            <a:spAutoFit/>
          </a:bodyPr>
          <a:lstStyle/>
          <a:p>
            <a:pPr>
              <a:defRPr sz="3800" b="0">
                <a:solidFill>
                  <a:srgbClr val="000000"/>
                </a:solidFill>
                <a:latin typeface="Calibri"/>
              </a:defRPr>
            </a:pPr>
            <a:r>
              <a:t>Important Code Snippets</a:t>
            </a:r>
          </a:p>
        </p:txBody>
      </p:sp>
      <p:sp>
        <p:nvSpPr>
          <p:cNvPr id="4" name="Rectangle 3"/>
          <p:cNvSpPr/>
          <p:nvPr/>
        </p:nvSpPr>
        <p:spPr>
          <a:xfrm>
            <a:off x="0" y="1014984"/>
            <a:ext cx="9144000" cy="13716"/>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1143000"/>
            <a:ext cx="3977639" cy="3794760"/>
          </a:xfrm>
          <a:prstGeom prst="rect">
            <a:avLst/>
          </a:prstGeom>
          <a:noFill/>
        </p:spPr>
        <p:txBody>
          <a:bodyPr wrap="square" lIns="0" tIns="0" rIns="0" bIns="0">
            <a:spAutoFit/>
          </a:bodyPr>
          <a:lstStyle/>
          <a:p>
            <a:pPr>
              <a:defRPr sz="1300" b="1">
                <a:solidFill>
                  <a:srgbClr val="000000"/>
                </a:solidFill>
                <a:latin typeface="Calibri"/>
              </a:defRPr>
            </a:pPr>
            <a:r>
              <a:t>1. Spherical Haversine Distance (geoService.js)</a:t>
            </a:r>
          </a:p>
          <a:p>
            <a:pPr>
              <a:spcBef>
                <a:spcPts val="300"/>
              </a:spcBef>
              <a:defRPr sz="950">
                <a:solidFill>
                  <a:srgbClr val="000000"/>
                </a:solidFill>
                <a:latin typeface="Courier New"/>
              </a:defRPr>
            </a:pPr>
            <a:r>
              <a:t>static distanceKm(lat1, lon1, lat2, lon2) {</a:t>
            </a:r>
            <a:br/>
            <a:r>
              <a:t>  const R = 6371; // Earth radius in km</a:t>
            </a:r>
            <a:br/>
            <a:r>
              <a:t>  const dLat = (lat2 - lat1) * Math.PI / 180;</a:t>
            </a:r>
            <a:br/>
            <a:r>
              <a:t>  const dLon = (lon2 - lon1) * Math.PI / 180;</a:t>
            </a:r>
            <a:br/>
            <a:r>
              <a:t>  const a = Math.sin(dLat/2)**2 +</a:t>
            </a:r>
            <a:br/>
            <a:r>
              <a:t>            Math.cos(lat1*Math.PI/180) *</a:t>
            </a:r>
            <a:br/>
            <a:r>
              <a:t>            Math.cos(lat2*Math.PI/180) * Math.sin(dLon/2)**2;</a:t>
            </a:r>
            <a:br/>
            <a:r>
              <a:t>  return R * 2 * Math.atan2(Math.sqrt(a), Math.sqrt(1 - a));</a:t>
            </a:r>
            <a:br/>
            <a:r>
              <a:t>}</a:t>
            </a:r>
          </a:p>
          <a:p>
            <a:pPr>
              <a:spcBef>
                <a:spcPts val="1200"/>
              </a:spcBef>
              <a:defRPr sz="1300" b="1">
                <a:solidFill>
                  <a:srgbClr val="000000"/>
                </a:solidFill>
                <a:latin typeface="Calibri"/>
              </a:defRPr>
            </a:pPr>
            <a:r>
              <a:t>2. Pub/Sub Reactive State Store (store.js)</a:t>
            </a:r>
          </a:p>
          <a:p>
            <a:pPr>
              <a:spcBef>
                <a:spcPts val="300"/>
              </a:spcBef>
              <a:defRPr sz="950">
                <a:solidFill>
                  <a:srgbClr val="000000"/>
                </a:solidFill>
                <a:latin typeface="Courier New"/>
              </a:defRPr>
            </a:pPr>
            <a:r>
              <a:t>subscribe(listener) {</a:t>
            </a:r>
            <a:br/>
            <a:r>
              <a:t>  this.listeners.add(listener);</a:t>
            </a:r>
            <a:br/>
            <a:r>
              <a:t>  return () =&gt; this.listeners.delete(listener);</a:t>
            </a:r>
            <a:br/>
            <a:r>
              <a:t>}</a:t>
            </a:r>
            <a:br/>
            <a:r>
              <a:t>setState(updates) {</a:t>
            </a:r>
            <a:br/>
            <a:r>
              <a:t>  this.state = { ...this.state, ...updates };</a:t>
            </a:r>
            <a:br/>
            <a:r>
              <a:t>  const changed = Object.keys(updates);</a:t>
            </a:r>
            <a:br/>
            <a:r>
              <a:t>  this.listeners.forEach(fn =&gt; fn(this.state, changed));</a:t>
            </a:r>
            <a:br/>
            <a:r>
              <a:t>}</a:t>
            </a:r>
          </a:p>
        </p:txBody>
      </p:sp>
      <p:sp>
        <p:nvSpPr>
          <p:cNvPr id="6" name="TextBox 5"/>
          <p:cNvSpPr txBox="1"/>
          <p:nvPr/>
        </p:nvSpPr>
        <p:spPr>
          <a:xfrm>
            <a:off x="4645152" y="1143000"/>
            <a:ext cx="3977639" cy="3794760"/>
          </a:xfrm>
          <a:prstGeom prst="rect">
            <a:avLst/>
          </a:prstGeom>
          <a:noFill/>
        </p:spPr>
        <p:txBody>
          <a:bodyPr wrap="square" lIns="0" tIns="0" rIns="0" bIns="0">
            <a:spAutoFit/>
          </a:bodyPr>
          <a:lstStyle/>
          <a:p>
            <a:pPr>
              <a:defRPr sz="1300" b="1">
                <a:solidFill>
                  <a:srgbClr val="000000"/>
                </a:solidFill>
                <a:latin typeface="Calibri"/>
              </a:defRPr>
            </a:pPr>
            <a:r>
              <a:t>3. Retina Display Canvas Scaling (analyticsView.js)</a:t>
            </a:r>
          </a:p>
          <a:p>
            <a:pPr>
              <a:spcBef>
                <a:spcPts val="300"/>
              </a:spcBef>
              <a:defRPr sz="950">
                <a:solidFill>
                  <a:srgbClr val="000000"/>
                </a:solidFill>
                <a:latin typeface="Courier New"/>
              </a:defRPr>
            </a:pPr>
            <a:r>
              <a:t>const ctx = canvas.getContext('2d');</a:t>
            </a:r>
            <a:br/>
            <a:r>
              <a:t>const dpr = window.devicePixelRatio || 1;</a:t>
            </a:r>
            <a:br/>
            <a:r>
              <a:t>const rect = canvas.getBoundingClientRect();</a:t>
            </a:r>
            <a:br/>
            <a:r>
              <a:t>canvas.width = rect.width * dpr;</a:t>
            </a:r>
            <a:br/>
            <a:r>
              <a:t>canvas.height = rect.height * dpr;</a:t>
            </a:r>
            <a:br/>
            <a:r>
              <a:t>ctx.scale(dpr, dpr); // Crystal-clear on 4K / Retina</a:t>
            </a:r>
            <a:br/>
            <a:r>
              <a:t>ctx.clearRect(0, 0, rect.width, rect.height);</a:t>
            </a:r>
          </a:p>
          <a:p>
            <a:pPr>
              <a:spcBef>
                <a:spcPts val="1200"/>
              </a:spcBef>
              <a:defRPr sz="1300" b="1">
                <a:solidFill>
                  <a:srgbClr val="000000"/>
                </a:solidFill>
                <a:latin typeface="Calibri"/>
              </a:defRPr>
            </a:pPr>
            <a:r>
              <a:t>4. Reverse Proxy CORS Bypass (vite.config.ts)</a:t>
            </a:r>
          </a:p>
          <a:p>
            <a:pPr>
              <a:spcBef>
                <a:spcPts val="300"/>
              </a:spcBef>
              <a:defRPr sz="950">
                <a:solidFill>
                  <a:srgbClr val="000000"/>
                </a:solidFill>
                <a:latin typeface="Courier New"/>
              </a:defRPr>
            </a:pPr>
            <a:r>
              <a:t>defineConfig({</a:t>
            </a:r>
            <a:br/>
            <a:r>
              <a:t>  server: {</a:t>
            </a:r>
            <a:br/>
            <a:r>
              <a:t>    port: 8080,</a:t>
            </a:r>
            <a:br/>
            <a:r>
              <a:t>    proxy: {</a:t>
            </a:r>
            <a:br/>
            <a:r>
              <a:t>      '/api/railradar': {</a:t>
            </a:r>
            <a:br/>
            <a:r>
              <a:t>        target: 'https://api.railradar.in/v1',</a:t>
            </a:r>
            <a:br/>
            <a:r>
              <a:t>        changeOrigin: true,</a:t>
            </a:r>
            <a:br/>
            <a:r>
              <a:t>        rewrite: p =&gt; p.replace(/^\/api\/railradar/, '')</a:t>
            </a:r>
            <a:br/>
            <a:r>
              <a:t>      }</a:t>
            </a:r>
            <a:br/>
            <a:r>
              <a:t>    }</a:t>
            </a:r>
            <a:br/>
            <a:r>
              <a:t>  }</a:t>
            </a:r>
            <a:br/>
            <a: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109728"/>
            <a:ext cx="7589520" cy="795528"/>
          </a:xfrm>
          <a:prstGeom prst="rect">
            <a:avLst/>
          </a:prstGeom>
          <a:noFill/>
        </p:spPr>
        <p:txBody>
          <a:bodyPr wrap="square" lIns="0" tIns="0" rIns="0" bIns="0">
            <a:spAutoFit/>
          </a:bodyPr>
          <a:lstStyle/>
          <a:p>
            <a:pPr>
              <a:defRPr sz="3800" b="0">
                <a:solidFill>
                  <a:srgbClr val="000000"/>
                </a:solidFill>
                <a:latin typeface="Calibri"/>
              </a:defRPr>
            </a:pPr>
            <a:r>
              <a:t>Future Scope</a:t>
            </a:r>
          </a:p>
        </p:txBody>
      </p:sp>
      <p:sp>
        <p:nvSpPr>
          <p:cNvPr id="4" name="Rectangle 3"/>
          <p:cNvSpPr/>
          <p:nvPr/>
        </p:nvSpPr>
        <p:spPr>
          <a:xfrm>
            <a:off x="0" y="1014984"/>
            <a:ext cx="9144000" cy="13716"/>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1234440"/>
            <a:ext cx="8138160" cy="3657600"/>
          </a:xfrm>
          <a:prstGeom prst="rect">
            <a:avLst/>
          </a:prstGeom>
          <a:noFill/>
        </p:spPr>
        <p:txBody>
          <a:bodyPr wrap="square" lIns="0" tIns="0" rIns="0" bIns="0">
            <a:spAutoFit/>
          </a:bodyPr>
          <a:lstStyle/>
          <a:p>
            <a:pPr>
              <a:spcBef>
                <a:spcPts val="1000"/>
              </a:spcBef>
            </a:pPr>
            <a:r>
              <a:rPr sz="1450" b="1">
                <a:solidFill>
                  <a:srgbClr val="000000"/>
                </a:solidFill>
                <a:latin typeface="Calibri"/>
              </a:rPr>
              <a:t>●   Crowdsourced Live Tracking – </a:t>
            </a:r>
            <a:r>
              <a:rPr sz="1450" b="0">
                <a:solidFill>
                  <a:srgbClr val="000000"/>
                </a:solidFill>
                <a:latin typeface="Calibri"/>
              </a:rPr>
              <a:t>Allow on-board passengers to validate real-time GPS locations and coach occupancy.</a:t>
            </a:r>
          </a:p>
          <a:p>
            <a:pPr>
              <a:spcBef>
                <a:spcPts val="1000"/>
              </a:spcBef>
            </a:pPr>
            <a:r>
              <a:rPr sz="1450" b="1">
                <a:solidFill>
                  <a:srgbClr val="000000"/>
                </a:solidFill>
                <a:latin typeface="Calibri"/>
              </a:rPr>
              <a:t>●   AI Predictive Delay Modeling – </a:t>
            </a:r>
            <a:r>
              <a:rPr sz="1450" b="0">
                <a:solidFill>
                  <a:srgbClr val="000000"/>
                </a:solidFill>
                <a:latin typeface="Calibri"/>
              </a:rPr>
              <a:t>Integrate machine learning to predict junction bottlenecks and delay propagation across sectors.</a:t>
            </a:r>
          </a:p>
          <a:p>
            <a:pPr>
              <a:spcBef>
                <a:spcPts val="1000"/>
              </a:spcBef>
            </a:pPr>
            <a:r>
              <a:rPr sz="1450" b="1">
                <a:solidFill>
                  <a:srgbClr val="000000"/>
                </a:solidFill>
                <a:latin typeface="Calibri"/>
              </a:rPr>
              <a:t>●   Multi-Modal Transit Integration – </a:t>
            </a:r>
            <a:r>
              <a:rPr sz="1450" b="0">
                <a:solidFill>
                  <a:srgbClr val="000000"/>
                </a:solidFill>
                <a:latin typeface="Calibri"/>
              </a:rPr>
              <a:t>Connect Indian Railways schedules with metro lines and local buses for unified journey planning.</a:t>
            </a:r>
          </a:p>
          <a:p>
            <a:pPr>
              <a:spcBef>
                <a:spcPts val="1000"/>
              </a:spcBef>
            </a:pPr>
            <a:r>
              <a:rPr sz="1450" b="1">
                <a:solidFill>
                  <a:srgbClr val="000000"/>
                </a:solidFill>
                <a:latin typeface="Calibri"/>
              </a:rPr>
              <a:t>●   WebSocket &amp; MQTT Streaming – </a:t>
            </a:r>
            <a:r>
              <a:rPr sz="1450" b="0">
                <a:solidFill>
                  <a:srgbClr val="000000"/>
                </a:solidFill>
                <a:latin typeface="Calibri"/>
              </a:rPr>
              <a:t>Upgrade polling intervals to low-latency bi-directional streams for sub-second updates.</a:t>
            </a:r>
          </a:p>
          <a:p>
            <a:pPr>
              <a:spcBef>
                <a:spcPts val="1000"/>
              </a:spcBef>
            </a:pPr>
            <a:r>
              <a:rPr sz="1450" b="1">
                <a:solidFill>
                  <a:srgbClr val="000000"/>
                </a:solidFill>
                <a:latin typeface="Calibri"/>
              </a:rPr>
              <a:t>●   Cross-Platform Mobile App – </a:t>
            </a:r>
            <a:r>
              <a:rPr sz="1450" b="0">
                <a:solidFill>
                  <a:srgbClr val="000000"/>
                </a:solidFill>
                <a:latin typeface="Calibri"/>
              </a:rPr>
              <a:t>Extend the web platform into native Android and iOS applications with offline background notifications.</a:t>
            </a:r>
          </a:p>
          <a:p>
            <a:pPr>
              <a:spcBef>
                <a:spcPts val="1000"/>
              </a:spcBef>
            </a:pPr>
            <a:r>
              <a:rPr sz="1450" b="1">
                <a:solidFill>
                  <a:srgbClr val="000000"/>
                </a:solidFill>
                <a:latin typeface="Calibri"/>
              </a:rPr>
              <a:t>●   Offline Vector Map Caching – </a:t>
            </a:r>
            <a:r>
              <a:rPr sz="1450" b="0">
                <a:solidFill>
                  <a:srgbClr val="000000"/>
                </a:solidFill>
                <a:latin typeface="Calibri"/>
              </a:rPr>
              <a:t>Pre-cache regional map boundaries locally so tracks and terrain render inside isolated tunnels.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109728"/>
            <a:ext cx="7589520" cy="795528"/>
          </a:xfrm>
          <a:prstGeom prst="rect">
            <a:avLst/>
          </a:prstGeom>
          <a:noFill/>
        </p:spPr>
        <p:txBody>
          <a:bodyPr wrap="square" lIns="0" tIns="0" rIns="0" bIns="0">
            <a:spAutoFit/>
          </a:bodyPr>
          <a:lstStyle/>
          <a:p>
            <a:pPr>
              <a:defRPr sz="3800" b="0">
                <a:solidFill>
                  <a:srgbClr val="000000"/>
                </a:solidFill>
                <a:latin typeface="Calibri"/>
              </a:defRPr>
            </a:pPr>
            <a:r>
              <a:t>Conclusion</a:t>
            </a:r>
          </a:p>
        </p:txBody>
      </p:sp>
      <p:sp>
        <p:nvSpPr>
          <p:cNvPr id="4" name="Rectangle 3"/>
          <p:cNvSpPr/>
          <p:nvPr/>
        </p:nvSpPr>
        <p:spPr>
          <a:xfrm>
            <a:off x="0" y="1014984"/>
            <a:ext cx="9144000" cy="13716"/>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1234440"/>
            <a:ext cx="8138160" cy="3657600"/>
          </a:xfrm>
          <a:prstGeom prst="rect">
            <a:avLst/>
          </a:prstGeom>
          <a:noFill/>
        </p:spPr>
        <p:txBody>
          <a:bodyPr wrap="square" lIns="0" tIns="0" rIns="0" bIns="0">
            <a:spAutoFit/>
          </a:bodyPr>
          <a:lstStyle/>
          <a:p>
            <a:pPr>
              <a:spcBef>
                <a:spcPts val="1000"/>
              </a:spcBef>
            </a:pPr>
            <a:r>
              <a:rPr sz="1450" b="0">
                <a:solidFill>
                  <a:srgbClr val="000000"/>
                </a:solidFill>
                <a:latin typeface="Calibri"/>
              </a:rPr>
              <a:t>●   Gained practical experience in </a:t>
            </a:r>
            <a:r>
              <a:rPr sz="1450" b="1">
                <a:solidFill>
                  <a:srgbClr val="000000"/>
                </a:solidFill>
                <a:latin typeface="Calibri"/>
              </a:rPr>
              <a:t>Software Development</a:t>
            </a:r>
            <a:r>
              <a:rPr sz="1450" b="0">
                <a:solidFill>
                  <a:srgbClr val="000000"/>
                </a:solidFill>
                <a:latin typeface="Calibri"/>
              </a:rPr>
              <a:t> through real-world project implementation.</a:t>
            </a:r>
          </a:p>
          <a:p>
            <a:pPr>
              <a:spcBef>
                <a:spcPts val="1000"/>
              </a:spcBef>
            </a:pPr>
            <a:r>
              <a:rPr sz="1450" b="0">
                <a:solidFill>
                  <a:srgbClr val="000000"/>
                </a:solidFill>
                <a:latin typeface="Calibri"/>
              </a:rPr>
              <a:t>●   Strengthened knowledge of </a:t>
            </a:r>
            <a:r>
              <a:rPr sz="1450" b="1">
                <a:solidFill>
                  <a:srgbClr val="000000"/>
                </a:solidFill>
                <a:latin typeface="Calibri"/>
              </a:rPr>
              <a:t>HTML, CSS, modern JavaScript (ES Modules), MapLibre GL, and API integration</a:t>
            </a:r>
            <a:r>
              <a:rPr sz="1450" b="0">
                <a:solidFill>
                  <a:srgbClr val="000000"/>
                </a:solidFill>
                <a:latin typeface="Calibri"/>
              </a:rPr>
              <a:t>.</a:t>
            </a:r>
          </a:p>
          <a:p>
            <a:pPr>
              <a:spcBef>
                <a:spcPts val="1000"/>
              </a:spcBef>
            </a:pPr>
            <a:r>
              <a:rPr sz="1450" b="0">
                <a:solidFill>
                  <a:srgbClr val="000000"/>
                </a:solidFill>
                <a:latin typeface="Calibri"/>
              </a:rPr>
              <a:t>●   Successfully developed the </a:t>
            </a:r>
            <a:r>
              <a:rPr sz="1450" b="1">
                <a:solidFill>
                  <a:srgbClr val="000000"/>
                </a:solidFill>
                <a:latin typeface="Calibri"/>
              </a:rPr>
              <a:t>RailGaadi (Train Tracker) Web Application</a:t>
            </a:r>
            <a:r>
              <a:rPr sz="1450" b="0">
                <a:solidFill>
                  <a:srgbClr val="000000"/>
                </a:solidFill>
                <a:latin typeface="Calibri"/>
              </a:rPr>
              <a:t> with live telemetry, elevation curves, and station boards.</a:t>
            </a:r>
          </a:p>
          <a:p>
            <a:pPr>
              <a:spcBef>
                <a:spcPts val="1000"/>
              </a:spcBef>
            </a:pPr>
            <a:r>
              <a:rPr sz="1450" b="0">
                <a:solidFill>
                  <a:srgbClr val="000000"/>
                </a:solidFill>
                <a:latin typeface="Calibri"/>
              </a:rPr>
              <a:t>●   Learned to use professional tools and technologies like </a:t>
            </a:r>
            <a:r>
              <a:rPr sz="1450" b="1">
                <a:solidFill>
                  <a:srgbClr val="000000"/>
                </a:solidFill>
                <a:latin typeface="Calibri"/>
              </a:rPr>
              <a:t>Git, GitHub, VS Code, Vite, and PWA Service Workers</a:t>
            </a:r>
            <a:r>
              <a:rPr sz="1450" b="0">
                <a:solidFill>
                  <a:srgbClr val="000000"/>
                </a:solidFill>
                <a:latin typeface="Calibri"/>
              </a:rPr>
              <a:t> for development.</a:t>
            </a:r>
          </a:p>
          <a:p>
            <a:pPr>
              <a:spcBef>
                <a:spcPts val="1000"/>
              </a:spcBef>
            </a:pPr>
            <a:r>
              <a:rPr sz="1450" b="0">
                <a:solidFill>
                  <a:srgbClr val="000000"/>
                </a:solidFill>
                <a:latin typeface="Calibri"/>
              </a:rPr>
              <a:t>●   Enhanced </a:t>
            </a:r>
            <a:r>
              <a:rPr sz="1450" b="1">
                <a:solidFill>
                  <a:srgbClr val="000000"/>
                </a:solidFill>
                <a:latin typeface="Calibri"/>
              </a:rPr>
              <a:t>teamwork, communication, problem-solving, and time management</a:t>
            </a:r>
            <a:r>
              <a:rPr sz="1450" b="0">
                <a:solidFill>
                  <a:srgbClr val="000000"/>
                </a:solidFill>
                <a:latin typeface="Calibri"/>
              </a:rPr>
              <a:t> in a professional environment.</a:t>
            </a:r>
          </a:p>
          <a:p>
            <a:pPr>
              <a:spcBef>
                <a:spcPts val="1000"/>
              </a:spcBef>
            </a:pPr>
            <a:r>
              <a:rPr sz="1450" b="0">
                <a:solidFill>
                  <a:srgbClr val="000000"/>
                </a:solidFill>
                <a:latin typeface="Calibri"/>
              </a:rPr>
              <a:t>●   Overall, the internship boosted my confidence and prepared me for </a:t>
            </a:r>
            <a:r>
              <a:rPr sz="1450" b="1">
                <a:solidFill>
                  <a:srgbClr val="000000"/>
                </a:solidFill>
                <a:latin typeface="Calibri"/>
              </a:rPr>
              <a:t>future opportunities in full-stack web and software engineering</a:t>
            </a:r>
            <a:r>
              <a:rPr sz="1450" b="0">
                <a:solidFill>
                  <a:srgbClr val="000000"/>
                </a:solidFill>
                <a:latin typeface="Calibri"/>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1207" y="109728"/>
            <a:ext cx="7589520" cy="795528"/>
          </a:xfrm>
          <a:prstGeom prst="rect">
            <a:avLst/>
          </a:prstGeom>
          <a:noFill/>
        </p:spPr>
        <p:txBody>
          <a:bodyPr wrap="square" lIns="0" tIns="0" rIns="0" bIns="0">
            <a:spAutoFit/>
          </a:bodyPr>
          <a:lstStyle/>
          <a:p>
            <a:pPr>
              <a:defRPr sz="3800" b="0">
                <a:solidFill>
                  <a:srgbClr val="000000"/>
                </a:solidFill>
                <a:latin typeface="Calibri"/>
              </a:defRPr>
            </a:pPr>
            <a:r>
              <a:t>References</a:t>
            </a:r>
          </a:p>
        </p:txBody>
      </p:sp>
      <p:sp>
        <p:nvSpPr>
          <p:cNvPr id="4" name="Rectangle 3"/>
          <p:cNvSpPr/>
          <p:nvPr/>
        </p:nvSpPr>
        <p:spPr>
          <a:xfrm>
            <a:off x="0" y="1014984"/>
            <a:ext cx="9144000" cy="13716"/>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1207" y="1188720"/>
            <a:ext cx="8138160" cy="3749039"/>
          </a:xfrm>
          <a:prstGeom prst="rect">
            <a:avLst/>
          </a:prstGeom>
          <a:noFill/>
        </p:spPr>
        <p:txBody>
          <a:bodyPr wrap="square" lIns="0" tIns="0" rIns="0" bIns="0">
            <a:spAutoFit/>
          </a:bodyPr>
          <a:lstStyle/>
          <a:p>
            <a:pPr>
              <a:spcBef>
                <a:spcPts val="800"/>
              </a:spcBef>
            </a:pPr>
            <a:r>
              <a:rPr sz="1450" b="1">
                <a:solidFill>
                  <a:srgbClr val="000000"/>
                </a:solidFill>
                <a:latin typeface="Calibri"/>
              </a:rPr>
              <a:t>●   Sumit DigiTech Private Limited – </a:t>
            </a:r>
            <a:r>
              <a:rPr sz="1450" b="0">
                <a:solidFill>
                  <a:srgbClr val="000000"/>
                </a:solidFill>
                <a:latin typeface="Calibri"/>
              </a:rPr>
              <a:t>Official Website and Training Resources</a:t>
            </a:r>
          </a:p>
          <a:p>
            <a:pPr>
              <a:spcBef>
                <a:spcPts val="800"/>
              </a:spcBef>
            </a:pPr>
            <a:r>
              <a:rPr sz="1450" b="1">
                <a:solidFill>
                  <a:srgbClr val="000000"/>
                </a:solidFill>
                <a:latin typeface="Calibri"/>
              </a:rPr>
              <a:t>●   MapLibre GL JS Documentation – </a:t>
            </a:r>
            <a:r>
              <a:rPr sz="1450" b="0">
                <a:solidFill>
                  <a:srgbClr val="000000"/>
                </a:solidFill>
                <a:latin typeface="Calibri"/>
              </a:rPr>
              <a:t>https://maplibre.org/maplibre-gl-js/docs/</a:t>
            </a:r>
          </a:p>
          <a:p>
            <a:pPr>
              <a:spcBef>
                <a:spcPts val="800"/>
              </a:spcBef>
            </a:pPr>
            <a:r>
              <a:rPr sz="1450" b="1">
                <a:solidFill>
                  <a:srgbClr val="000000"/>
                </a:solidFill>
                <a:latin typeface="Calibri"/>
              </a:rPr>
              <a:t>●   MDN Web Docs – </a:t>
            </a:r>
            <a:r>
              <a:rPr sz="1450" b="0">
                <a:solidFill>
                  <a:srgbClr val="000000"/>
                </a:solidFill>
                <a:latin typeface="Calibri"/>
              </a:rPr>
              <a:t>HTML, CSS, JavaScript, Canvas API &amp; Service Workers</a:t>
            </a:r>
          </a:p>
          <a:p>
            <a:pPr>
              <a:spcBef>
                <a:spcPts val="800"/>
              </a:spcBef>
            </a:pPr>
            <a:r>
              <a:rPr sz="1450" b="1">
                <a:solidFill>
                  <a:srgbClr val="000000"/>
                </a:solidFill>
                <a:latin typeface="Calibri"/>
              </a:rPr>
              <a:t>●   Vite Official Documentation – </a:t>
            </a:r>
            <a:r>
              <a:rPr sz="1450" b="0">
                <a:solidFill>
                  <a:srgbClr val="000000"/>
                </a:solidFill>
                <a:latin typeface="Calibri"/>
              </a:rPr>
              <a:t>Next Generation Frontend Tooling</a:t>
            </a:r>
          </a:p>
          <a:p>
            <a:pPr>
              <a:spcBef>
                <a:spcPts val="800"/>
              </a:spcBef>
            </a:pPr>
            <a:r>
              <a:rPr sz="1450" b="1">
                <a:solidFill>
                  <a:srgbClr val="000000"/>
                </a:solidFill>
                <a:latin typeface="Calibri"/>
              </a:rPr>
              <a:t>●   OpenWeatherMap &amp; OpenTopography – </a:t>
            </a:r>
            <a:r>
              <a:rPr sz="1450" b="0">
                <a:solidFill>
                  <a:srgbClr val="000000"/>
                </a:solidFill>
                <a:latin typeface="Calibri"/>
              </a:rPr>
              <a:t>Weather &amp; SRTM Elevation APIs</a:t>
            </a:r>
          </a:p>
          <a:p>
            <a:pPr>
              <a:spcBef>
                <a:spcPts val="800"/>
              </a:spcBef>
            </a:pPr>
            <a:r>
              <a:rPr sz="1450" b="1">
                <a:solidFill>
                  <a:srgbClr val="000000"/>
                </a:solidFill>
                <a:latin typeface="Calibri"/>
              </a:rPr>
              <a:t>●   Git &amp; GitHub Guides – </a:t>
            </a:r>
            <a:r>
              <a:rPr sz="1450" b="0">
                <a:solidFill>
                  <a:srgbClr val="000000"/>
                </a:solidFill>
                <a:latin typeface="Calibri"/>
              </a:rPr>
              <a:t>Version Control &amp; Repository Management</a:t>
            </a:r>
          </a:p>
          <a:p>
            <a:pPr>
              <a:spcBef>
                <a:spcPts val="1400"/>
              </a:spcBef>
            </a:pPr>
            <a:r>
              <a:rPr sz="1600" b="1">
                <a:solidFill>
                  <a:srgbClr val="000000"/>
                </a:solidFill>
                <a:latin typeface="Calibri"/>
              </a:rPr>
              <a:t>Other References</a:t>
            </a:r>
          </a:p>
          <a:p>
            <a:pPr>
              <a:spcBef>
                <a:spcPts val="800"/>
              </a:spcBef>
            </a:pPr>
            <a:r>
              <a:rPr sz="1450" b="0">
                <a:solidFill>
                  <a:srgbClr val="000000"/>
                </a:solidFill>
                <a:latin typeface="Calibri"/>
              </a:rPr>
              <a:t>●   Tutorials &amp; articles from platforms like </a:t>
            </a:r>
            <a:r>
              <a:rPr sz="1450" b="1">
                <a:solidFill>
                  <a:srgbClr val="000000"/>
                </a:solidFill>
                <a:latin typeface="Calibri"/>
              </a:rPr>
              <a:t>GeeksforGeeks, W3Schools, FreeCodeCamp</a:t>
            </a:r>
          </a:p>
          <a:p>
            <a:pPr>
              <a:spcBef>
                <a:spcPts val="800"/>
              </a:spcBef>
            </a:pPr>
            <a:r>
              <a:rPr sz="1450" b="0">
                <a:solidFill>
                  <a:srgbClr val="000000"/>
                </a:solidFill>
                <a:latin typeface="Calibri"/>
              </a:rPr>
              <a:t>●   Guidance and mentorship provided by the </a:t>
            </a:r>
            <a:r>
              <a:rPr sz="1450" b="1">
                <a:solidFill>
                  <a:srgbClr val="000000"/>
                </a:solidFill>
                <a:latin typeface="Calibri"/>
              </a:rPr>
              <a:t>Sumit DigiTech team &amp; Poornima Faculty Coordinators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